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-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149CE201-EFEB-46B8-A967-EB31106D6145}"/>
    <pc:docChg chg="undo custSel modSld">
      <pc:chgData name="Brian Dyer" userId="f4d252ae-ea01-4f62-a905-b25723068793" providerId="ADAL" clId="{149CE201-EFEB-46B8-A967-EB31106D6145}" dt="2024-11-18T22:02:47.360" v="712" actId="1036"/>
      <pc:docMkLst>
        <pc:docMk/>
      </pc:docMkLst>
      <pc:sldChg chg="modSp mod">
        <pc:chgData name="Brian Dyer" userId="f4d252ae-ea01-4f62-a905-b25723068793" providerId="ADAL" clId="{149CE201-EFEB-46B8-A967-EB31106D6145}" dt="2024-11-18T22:02:47.360" v="712" actId="1036"/>
        <pc:sldMkLst>
          <pc:docMk/>
          <pc:sldMk cId="0" sldId="313"/>
        </pc:sldMkLst>
        <pc:spChg chg="mod">
          <ac:chgData name="Brian Dyer" userId="f4d252ae-ea01-4f62-a905-b25723068793" providerId="ADAL" clId="{149CE201-EFEB-46B8-A967-EB31106D6145}" dt="2024-11-18T18:46:36.444" v="67" actId="20577"/>
          <ac:spMkLst>
            <pc:docMk/>
            <pc:sldMk cId="0" sldId="313"/>
            <ac:spMk id="20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46:41.231" v="69" actId="20577"/>
          <ac:spMkLst>
            <pc:docMk/>
            <pc:sldMk cId="0" sldId="313"/>
            <ac:spMk id="21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46:46.523" v="73" actId="20577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46:56.200" v="75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50:39.479" v="156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1:18.278" v="190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1:22.705" v="194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1:29.033" v="198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29.144" v="689" actId="1036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33.206" v="696" actId="1036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41.563" v="704" actId="1036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47.360" v="712" actId="1036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2:14.624" v="203" actId="20577"/>
          <ac:spMkLst>
            <pc:docMk/>
            <pc:sldMk cId="0" sldId="313"/>
            <ac:spMk id="86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49:55.832" v="154" actId="20577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53:11.649" v="176" actId="6549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0:38.688" v="188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0:06.321" v="187" actId="20577"/>
          <ac:spMkLst>
            <pc:docMk/>
            <pc:sldMk cId="0" sldId="313"/>
            <ac:spMk id="90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6:38.802" v="613" actId="20577"/>
          <ac:spMkLst>
            <pc:docMk/>
            <pc:sldMk cId="0" sldId="313"/>
            <ac:spMk id="98" creationId="{76B7BF97-FD29-4B8E-84DF-E115D1549723}"/>
          </ac:spMkLst>
        </pc:spChg>
        <pc:spChg chg="mod">
          <ac:chgData name="Brian Dyer" userId="f4d252ae-ea01-4f62-a905-b25723068793" providerId="ADAL" clId="{149CE201-EFEB-46B8-A967-EB31106D6145}" dt="2024-11-18T22:02:21.920" v="682" actId="1036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6:21.162" v="608" actId="20577"/>
          <ac:spMkLst>
            <pc:docMk/>
            <pc:sldMk cId="0" sldId="313"/>
            <ac:spMk id="103" creationId="{C1615B3A-3FBA-41A3-9641-481CD0C6BE52}"/>
          </ac:spMkLst>
        </pc:spChg>
        <pc:spChg chg="mod">
          <ac:chgData name="Brian Dyer" userId="f4d252ae-ea01-4f62-a905-b25723068793" providerId="ADAL" clId="{149CE201-EFEB-46B8-A967-EB31106D6145}" dt="2024-11-18T22:02:21.920" v="682" actId="1036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21.920" v="682" actId="1036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21.920" v="682" actId="1036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7:04.722" v="620" actId="20577"/>
          <ac:spMkLst>
            <pc:docMk/>
            <pc:sldMk cId="0" sldId="313"/>
            <ac:spMk id="107" creationId="{EA6597A6-3B92-4EBD-9626-A72B2B148FA0}"/>
          </ac:spMkLst>
        </pc:spChg>
        <pc:spChg chg="mod">
          <ac:chgData name="Brian Dyer" userId="f4d252ae-ea01-4f62-a905-b25723068793" providerId="ADAL" clId="{149CE201-EFEB-46B8-A967-EB31106D6145}" dt="2024-11-18T21:57:51.795" v="625" actId="20577"/>
          <ac:spMkLst>
            <pc:docMk/>
            <pc:sldMk cId="0" sldId="313"/>
            <ac:spMk id="108" creationId="{8C374FDB-5D21-4B43-8585-B1F0B70ED270}"/>
          </ac:spMkLst>
        </pc:spChg>
        <pc:spChg chg="mod">
          <ac:chgData name="Brian Dyer" userId="f4d252ae-ea01-4f62-a905-b25723068793" providerId="ADAL" clId="{149CE201-EFEB-46B8-A967-EB31106D6145}" dt="2024-11-18T19:36:25.454" v="528" actId="20577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0:40:40.956" v="563" actId="20577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5:13.611" v="567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5:17.618" v="571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38.963" v="638" actId="20577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46.020" v="641" actId="20577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53.290" v="649" actId="20577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9:01.245" v="652" actId="20577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15.282" v="627" actId="20577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17.703" v="629" actId="20577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22.377" v="632" actId="20577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8:26.425" v="635" actId="20577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8:47:26.618" v="80" actId="20577"/>
          <ac:spMkLst>
            <pc:docMk/>
            <pc:sldMk cId="0" sldId="313"/>
            <ac:spMk id="193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19:11:52.973" v="201" actId="20577"/>
          <ac:spMkLst>
            <pc:docMk/>
            <pc:sldMk cId="0" sldId="313"/>
            <ac:spMk id="194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2:21.920" v="682" actId="1036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2:00:01.604" v="664" actId="20577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149CE201-EFEB-46B8-A967-EB31106D6145}" dt="2024-11-18T21:59:43.541" v="657" actId="20577"/>
          <ac:spMkLst>
            <pc:docMk/>
            <pc:sldMk cId="0" sldId="313"/>
            <ac:spMk id="197" creationId="{00000000-0000-0000-0000-000000000000}"/>
          </ac:spMkLst>
        </pc:sp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82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91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92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93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288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290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292" creationId="{00000000-0000-0000-0000-000000000000}"/>
          </ac:cxnSpMkLst>
        </pc:cxnChg>
        <pc:cxnChg chg="mod">
          <ac:chgData name="Brian Dyer" userId="f4d252ae-ea01-4f62-a905-b25723068793" providerId="ADAL" clId="{149CE201-EFEB-46B8-A967-EB31106D6145}" dt="2024-11-18T22:02:21.920" v="682" actId="1036"/>
          <ac:cxnSpMkLst>
            <pc:docMk/>
            <pc:sldMk cId="0" sldId="313"/>
            <ac:cxnSpMk id="29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OF FEB 22 2024:</a:t>
            </a:r>
          </a:p>
          <a:p>
            <a:r>
              <a:rPr lang="en-US" dirty="0"/>
              <a:t>Total under pregnancy surveillance: 18,601 women</a:t>
            </a:r>
          </a:p>
          <a:p>
            <a:r>
              <a:rPr lang="en-US" dirty="0"/>
              <a:t>Total pregnancies detected: 2951</a:t>
            </a:r>
          </a:p>
          <a:p>
            <a:r>
              <a:rPr lang="en-US" dirty="0"/>
              <a:t>Total pregnant women enrolled: 2389</a:t>
            </a:r>
          </a:p>
          <a:p>
            <a:r>
              <a:rPr lang="en-US" dirty="0"/>
              <a:t>Total live births to date: 943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6836" y="1274040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2810" y="1663274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2810" y="2040507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20" y="33736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10" y="337326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1252" y="337340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4763" y="33666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04" y="51985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7154" y="2051618"/>
            <a:ext cx="3062766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I</a:t>
            </a:r>
            <a:r>
              <a:rPr lang="en-US" sz="1200" dirty="0"/>
              <a:t>neligible - gestational age (&gt;=17 weeks)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28582" y="3726510"/>
            <a:ext cx="224866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3926" y="3720032"/>
            <a:ext cx="2261372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Refusing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8266" y="3716423"/>
            <a:ext cx="2384673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Refusing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0009902" y="3716226"/>
            <a:ext cx="2379356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Refusing Supplementation/not met</a:t>
            </a:r>
          </a:p>
        </p:txBody>
      </p:sp>
      <p:cxnSp>
        <p:nvCxnSpPr>
          <p:cNvPr id="101" name="Straight Arrow Connector 100"/>
          <p:cNvCxnSpPr>
            <a:stCxn id="20" idx="2"/>
            <a:endCxn id="28" idx="0"/>
          </p:cNvCxnSpPr>
          <p:nvPr/>
        </p:nvCxnSpPr>
        <p:spPr>
          <a:xfrm flipH="1">
            <a:off x="1228438" y="3650684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21" idx="2"/>
            <a:endCxn id="67" idx="0"/>
          </p:cNvCxnSpPr>
          <p:nvPr/>
        </p:nvCxnSpPr>
        <p:spPr>
          <a:xfrm flipH="1">
            <a:off x="4098828" y="3650263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2" idx="2"/>
            <a:endCxn id="68" idx="0"/>
          </p:cNvCxnSpPr>
          <p:nvPr/>
        </p:nvCxnSpPr>
        <p:spPr>
          <a:xfrm flipH="1">
            <a:off x="6950271" y="365040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23" idx="2"/>
            <a:endCxn id="69" idx="0"/>
          </p:cNvCxnSpPr>
          <p:nvPr/>
        </p:nvCxnSpPr>
        <p:spPr>
          <a:xfrm flipH="1">
            <a:off x="9813781" y="3643625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225830" y="409389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4105261" y="409064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962145" y="409361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813782" y="408684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38948" y="252583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88167" y="312660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71362" y="310208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78148" y="311913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46358" y="311678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74493" y="51895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25936" y="518590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9447" y="51943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5112" y="5544950"/>
            <a:ext cx="2450963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7 Under follow-up</a:t>
            </a:r>
          </a:p>
          <a:p>
            <a:r>
              <a:rPr lang="en-US" sz="1200" dirty="0"/>
              <a:t>0 had outcome</a:t>
            </a:r>
          </a:p>
          <a:p>
            <a:r>
              <a:rPr lang="en-US" sz="1200" dirty="0"/>
              <a:t>5 Not supplemented before mid-pregnancy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  <a:p>
            <a:r>
              <a:rPr lang="en-US" sz="1200" b="1" dirty="0"/>
              <a:t>4 </a:t>
            </a:r>
            <a:r>
              <a:rPr lang="en-US" sz="120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4845" y="5530858"/>
            <a:ext cx="2537882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had outcome</a:t>
            </a:r>
          </a:p>
          <a:p>
            <a:r>
              <a:rPr lang="en-US" sz="1200" dirty="0"/>
              <a:t>4 Not supplemented before mid-pregnancy visit</a:t>
            </a:r>
          </a:p>
          <a:p>
            <a:r>
              <a:rPr lang="en-US" sz="1200" dirty="0"/>
              <a:t>1 Not met (up to 35 weeks GA)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8265" y="5536974"/>
            <a:ext cx="2330080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had outcome</a:t>
            </a:r>
          </a:p>
          <a:p>
            <a:r>
              <a:rPr lang="en-US" sz="1200" dirty="0"/>
              <a:t>3 Not supplemented before mid-pregnancy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03167" y="5538182"/>
            <a:ext cx="2563098" cy="1200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had outcome</a:t>
            </a:r>
          </a:p>
          <a:p>
            <a:r>
              <a:rPr lang="en-US" sz="1200" b="1" dirty="0"/>
              <a:t>6</a:t>
            </a:r>
            <a:r>
              <a:rPr lang="en-US" sz="1200" dirty="0"/>
              <a:t> Not supplemented before mid-pregnancy visit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stCxn id="28" idx="2"/>
            <a:endCxn id="102" idx="0"/>
          </p:cNvCxnSpPr>
          <p:nvPr/>
        </p:nvCxnSpPr>
        <p:spPr>
          <a:xfrm flipH="1">
            <a:off x="1221704" y="5475592"/>
            <a:ext cx="6735" cy="131457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2"/>
            <a:endCxn id="104" idx="0"/>
          </p:cNvCxnSpPr>
          <p:nvPr/>
        </p:nvCxnSpPr>
        <p:spPr>
          <a:xfrm flipH="1">
            <a:off x="4092093" y="5466513"/>
            <a:ext cx="6735" cy="13498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8" idx="2"/>
            <a:endCxn id="105" idx="0"/>
          </p:cNvCxnSpPr>
          <p:nvPr/>
        </p:nvCxnSpPr>
        <p:spPr>
          <a:xfrm flipH="1">
            <a:off x="6943729" y="5462905"/>
            <a:ext cx="6542" cy="13589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9" idx="2"/>
            <a:endCxn id="106" idx="0"/>
          </p:cNvCxnSpPr>
          <p:nvPr/>
        </p:nvCxnSpPr>
        <p:spPr>
          <a:xfrm flipH="1">
            <a:off x="9804438" y="5471303"/>
            <a:ext cx="9344" cy="1323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219095" y="591090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4098526" y="590765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955410" y="591062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807047" y="590384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7369" y="679016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67758" y="681638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19394" y="682188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0103" y="679447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104" y="809918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41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74493" y="8090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7811" y="80865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9447" y="80949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44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104" y="883326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83837" y="88327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36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7810" y="8829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9447" y="882897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37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4455" y="8438145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stCxn id="119" idx="2"/>
            <a:endCxn id="125" idx="0"/>
          </p:cNvCxnSpPr>
          <p:nvPr/>
        </p:nvCxnSpPr>
        <p:spPr>
          <a:xfrm>
            <a:off x="1228438" y="8376188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32" idx="1"/>
          </p:cNvCxnSpPr>
          <p:nvPr/>
        </p:nvCxnSpPr>
        <p:spPr>
          <a:xfrm flipV="1">
            <a:off x="1227321" y="8565103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296810" y="8429252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7 Pending outcome</a:t>
            </a:r>
          </a:p>
        </p:txBody>
      </p:sp>
      <p:cxnSp>
        <p:nvCxnSpPr>
          <p:cNvPr id="165" name="Straight Arrow Connector 164"/>
          <p:cNvCxnSpPr>
            <a:stCxn id="120" idx="2"/>
            <a:endCxn id="126" idx="0"/>
          </p:cNvCxnSpPr>
          <p:nvPr/>
        </p:nvCxnSpPr>
        <p:spPr>
          <a:xfrm>
            <a:off x="4098827" y="8367108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64" idx="1"/>
          </p:cNvCxnSpPr>
          <p:nvPr/>
        </p:nvCxnSpPr>
        <p:spPr>
          <a:xfrm flipV="1">
            <a:off x="4099676" y="855621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54075" y="8434053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11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stCxn id="122" idx="2"/>
          </p:cNvCxnSpPr>
          <p:nvPr/>
        </p:nvCxnSpPr>
        <p:spPr>
          <a:xfrm flipH="1">
            <a:off x="6958059" y="8363500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endCxn id="167" idx="1"/>
          </p:cNvCxnSpPr>
          <p:nvPr/>
        </p:nvCxnSpPr>
        <p:spPr>
          <a:xfrm flipV="1">
            <a:off x="6956941" y="856101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10007368" y="8433857"/>
            <a:ext cx="156006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stCxn id="124" idx="2"/>
          </p:cNvCxnSpPr>
          <p:nvPr/>
        </p:nvCxnSpPr>
        <p:spPr>
          <a:xfrm flipH="1">
            <a:off x="9811351" y="8371898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810234" y="856081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92575" y="1551039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92575" y="1940272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92575" y="2317505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46102" y="2940261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77847" y="299868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005169" y="300021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61866" y="2940261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51920" y="310656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51886" y="335348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63765" y="518826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63765" y="680611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246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73109" y="807060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178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73109" y="881342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147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92576" y="2419790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stCxn id="102" idx="2"/>
            <a:endCxn id="119" idx="0"/>
          </p:cNvCxnSpPr>
          <p:nvPr/>
        </p:nvCxnSpPr>
        <p:spPr>
          <a:xfrm>
            <a:off x="1221704" y="7067168"/>
            <a:ext cx="6735" cy="103202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stCxn id="104" idx="2"/>
            <a:endCxn id="120" idx="0"/>
          </p:cNvCxnSpPr>
          <p:nvPr/>
        </p:nvCxnSpPr>
        <p:spPr>
          <a:xfrm>
            <a:off x="4092093" y="7093380"/>
            <a:ext cx="6735" cy="99673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stCxn id="105" idx="2"/>
            <a:endCxn id="122" idx="0"/>
          </p:cNvCxnSpPr>
          <p:nvPr/>
        </p:nvCxnSpPr>
        <p:spPr>
          <a:xfrm>
            <a:off x="6943729" y="7098882"/>
            <a:ext cx="18417" cy="9876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106" idx="2"/>
            <a:endCxn id="124" idx="0"/>
          </p:cNvCxnSpPr>
          <p:nvPr/>
        </p:nvCxnSpPr>
        <p:spPr>
          <a:xfrm>
            <a:off x="9804438" y="7071478"/>
            <a:ext cx="9344" cy="10234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408375" y="1511783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1458452" y="7235202"/>
            <a:ext cx="2276767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had outcome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4338185" y="7203728"/>
            <a:ext cx="2537882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had outcome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7201503" y="7140145"/>
            <a:ext cx="2330080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had outcome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10053139" y="7135596"/>
            <a:ext cx="2563098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had outcome</a:t>
            </a:r>
          </a:p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1225830" y="742896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4105261" y="742571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956941" y="742868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819097" y="7421910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6661</TotalTime>
  <Words>477</Words>
  <Application>Microsoft Office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15</cp:revision>
  <dcterms:created xsi:type="dcterms:W3CDTF">2024-04-26T15:51:54Z</dcterms:created>
  <dcterms:modified xsi:type="dcterms:W3CDTF">2024-11-18T22:02:55Z</dcterms:modified>
</cp:coreProperties>
</file>