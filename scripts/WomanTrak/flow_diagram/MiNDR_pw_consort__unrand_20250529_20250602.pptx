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3" r:id="rId2"/>
  </p:sldIdLst>
  <p:sldSz cx="12192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37" autoAdjust="0"/>
  </p:normalViewPr>
  <p:slideViewPr>
    <p:cSldViewPr snapToGrid="0">
      <p:cViewPr>
        <p:scale>
          <a:sx n="75" d="100"/>
          <a:sy n="75" d="100"/>
        </p:scale>
        <p:origin x="974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D7C84AC5-ABCF-4913-8427-ECA984D5A36C}"/>
    <pc:docChg chg="undo custSel modSld">
      <pc:chgData name="Brian Dyer" userId="f4d252ae-ea01-4f62-a905-b25723068793" providerId="ADAL" clId="{D7C84AC5-ABCF-4913-8427-ECA984D5A36C}" dt="2025-06-03T13:35:21.909" v="184" actId="20577"/>
      <pc:docMkLst>
        <pc:docMk/>
      </pc:docMkLst>
      <pc:sldChg chg="modSp mod">
        <pc:chgData name="Brian Dyer" userId="f4d252ae-ea01-4f62-a905-b25723068793" providerId="ADAL" clId="{D7C84AC5-ABCF-4913-8427-ECA984D5A36C}" dt="2025-06-03T13:35:21.909" v="184" actId="20577"/>
        <pc:sldMkLst>
          <pc:docMk/>
          <pc:sldMk cId="0" sldId="313"/>
        </pc:sldMkLst>
        <pc:spChg chg="mod">
          <ac:chgData name="Brian Dyer" userId="f4d252ae-ea01-4f62-a905-b25723068793" providerId="ADAL" clId="{D7C84AC5-ABCF-4913-8427-ECA984D5A36C}" dt="2025-06-02T20:50:51.496" v="3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17:59.787" v="15" actId="6549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17:56.337" v="14" actId="6549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21:30.055" v="20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22:00.835" v="21" actId="6549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2T21:08:04.284" v="8" actId="6549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45:27.061" v="106" actId="6549"/>
          <ac:spMkLst>
            <pc:docMk/>
            <pc:sldMk cId="0" sldId="313"/>
            <ac:spMk id="98" creationId="{76B7BF97-FD29-4B8E-84DF-E115D1549723}"/>
          </ac:spMkLst>
        </pc:spChg>
        <pc:spChg chg="mod">
          <ac:chgData name="Brian Dyer" userId="f4d252ae-ea01-4f62-a905-b25723068793" providerId="ADAL" clId="{D7C84AC5-ABCF-4913-8427-ECA984D5A36C}" dt="2025-06-03T12:47:34.164" v="111" actId="6549"/>
          <ac:spMkLst>
            <pc:docMk/>
            <pc:sldMk cId="0" sldId="313"/>
            <ac:spMk id="103" creationId="{C1615B3A-3FBA-41A3-9641-481CD0C6BE52}"/>
          </ac:spMkLst>
        </pc:spChg>
        <pc:spChg chg="mod">
          <ac:chgData name="Brian Dyer" userId="f4d252ae-ea01-4f62-a905-b25723068793" providerId="ADAL" clId="{D7C84AC5-ABCF-4913-8427-ECA984D5A36C}" dt="2025-06-03T12:08:13.130" v="12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35:18.470" v="182" actId="1076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18:15.567" v="127" actId="6549"/>
          <ac:spMkLst>
            <pc:docMk/>
            <pc:sldMk cId="0" sldId="313"/>
            <ac:spMk id="107" creationId="{EA6597A6-3B92-4EBD-9626-A72B2B148FA0}"/>
          </ac:spMkLst>
        </pc:spChg>
        <pc:spChg chg="mod">
          <ac:chgData name="Brian Dyer" userId="f4d252ae-ea01-4f62-a905-b25723068793" providerId="ADAL" clId="{D7C84AC5-ABCF-4913-8427-ECA984D5A36C}" dt="2025-06-03T13:23:03.707" v="134" actId="20577"/>
          <ac:spMkLst>
            <pc:docMk/>
            <pc:sldMk cId="0" sldId="313"/>
            <ac:spMk id="108" creationId="{8C374FDB-5D21-4B43-8585-B1F0B70ED270}"/>
          </ac:spMkLst>
        </pc:spChg>
        <pc:spChg chg="mod">
          <ac:chgData name="Brian Dyer" userId="f4d252ae-ea01-4f62-a905-b25723068793" providerId="ADAL" clId="{D7C84AC5-ABCF-4913-8427-ECA984D5A36C}" dt="2025-06-03T12:25:21.218" v="23" actId="20577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2:46:24.691" v="110" actId="20577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15:50.285" v="115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2:37.812" v="132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4:48.822" v="138" actId="20577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07.797" v="146" actId="20577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23.253" v="152" actId="20577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28.476" v="156" actId="20577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00.286" v="142" actId="20577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40.700" v="162" actId="20577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43.965" v="164" actId="20577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47.278" v="166" actId="20577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2T21:05:32.860" v="7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35:21.909" v="184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6:15.309" v="180" actId="20577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D7C84AC5-ABCF-4913-8427-ECA984D5A36C}" dt="2025-06-03T13:25:54.332" v="170" actId="20577"/>
          <ac:spMkLst>
            <pc:docMk/>
            <pc:sldMk cId="0" sldId="313"/>
            <ac:spMk id="197" creationId="{00000000-0000-0000-0000-000000000000}"/>
          </ac:spMkLst>
        </pc:spChg>
      </pc:sldChg>
    </pc:docChg>
  </pc:docChgLst>
  <pc:docChgLst>
    <pc:chgData name="Brian Dyer" userId="f4d252ae-ea01-4f62-a905-b25723068793" providerId="ADAL" clId="{EA29CB83-29B7-4853-A791-5EF3E308452D}"/>
    <pc:docChg chg="undo custSel modSld">
      <pc:chgData name="Brian Dyer" userId="f4d252ae-ea01-4f62-a905-b25723068793" providerId="ADAL" clId="{EA29CB83-29B7-4853-A791-5EF3E308452D}" dt="2024-12-16T20:57:38.726" v="152" actId="20577"/>
      <pc:docMkLst>
        <pc:docMk/>
      </pc:docMkLst>
      <pc:sldChg chg="modSp mod">
        <pc:chgData name="Brian Dyer" userId="f4d252ae-ea01-4f62-a905-b25723068793" providerId="ADAL" clId="{EA29CB83-29B7-4853-A791-5EF3E308452D}" dt="2024-12-16T20:57:38.726" v="152" actId="20577"/>
        <pc:sldMkLst>
          <pc:docMk/>
          <pc:sldMk cId="0" sldId="3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515E3-3529-43C2-B2A5-89296F7A103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6484"/>
            <a:ext cx="9144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79652"/>
            <a:ext cx="105156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6119285"/>
            <a:ext cx="105156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86834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41551"/>
            <a:ext cx="5183188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609600"/>
            <a:ext cx="393223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316567"/>
            <a:ext cx="61722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743200"/>
            <a:ext cx="3932237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6834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8475134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84909" y="486861"/>
            <a:ext cx="599147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0883" y="876095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3999 women </a:t>
            </a:r>
            <a:r>
              <a:rPr lang="en-US" sz="1200" dirty="0"/>
              <a:t>eligible for pregnancy surveillance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0883" y="1253328"/>
            <a:ext cx="343953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661 pregnancies </a:t>
            </a:r>
            <a:r>
              <a:rPr lang="en-US" sz="1200" dirty="0"/>
              <a:t>detected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93" y="25865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7883" y="25860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9325" y="258622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89</a:t>
            </a:r>
            <a:r>
              <a:rPr lang="en-US" sz="1200" dirty="0"/>
              <a:t> pregnant women enrolled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2836" y="257944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r>
              <a:rPr lang="en-US" sz="1200" dirty="0"/>
              <a:t> pregnant women enrolled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93" y="427095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77</a:t>
            </a:r>
            <a:r>
              <a:rPr lang="en-US" sz="1200" dirty="0"/>
              <a:t> started supplementation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27" y="1264439"/>
            <a:ext cx="3201618" cy="83099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260 </a:t>
            </a:r>
            <a:r>
              <a:rPr lang="en-US" sz="1200" dirty="0"/>
              <a:t>Ineligible, gestational age &gt;=16 weeks</a:t>
            </a:r>
            <a:endParaRPr lang="en-US" sz="1200" b="1" dirty="0"/>
          </a:p>
          <a:p>
            <a:r>
              <a:rPr lang="en-US" sz="1200" b="1" dirty="0"/>
              <a:t>11 </a:t>
            </a:r>
            <a:r>
              <a:rPr lang="en-US" sz="1200" dirty="0"/>
              <a:t>Miscarriage</a:t>
            </a:r>
          </a:p>
          <a:p>
            <a:r>
              <a:rPr lang="en-US" sz="1200" b="1" dirty="0"/>
              <a:t>35 </a:t>
            </a:r>
            <a:r>
              <a:rPr lang="en-US" sz="1200" dirty="0"/>
              <a:t>MR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Consent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0766" y="2933414"/>
            <a:ext cx="224866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7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3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0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</a:t>
            </a:r>
          </a:p>
          <a:p>
            <a:r>
              <a:rPr lang="en-US" sz="1050" b="1" dirty="0"/>
              <a:t>0</a:t>
            </a:r>
            <a:r>
              <a:rPr lang="en-US" sz="1050" dirty="0"/>
              <a:t> Refused Ultrasound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76275" y="2930356"/>
            <a:ext cx="2248399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9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4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1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Ultrasound*</a:t>
            </a:r>
          </a:p>
          <a:p>
            <a:r>
              <a:rPr lang="en-US" sz="1050" b="1" dirty="0"/>
              <a:t>0</a:t>
            </a:r>
            <a:r>
              <a:rPr lang="en-US" sz="1050" dirty="0"/>
              <a:t> Refused supplementation/not met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66876" y="2928403"/>
            <a:ext cx="2210644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5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Miscarriage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3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)</a:t>
            </a:r>
          </a:p>
          <a:p>
            <a:pPr algn="l"/>
            <a:r>
              <a:rPr lang="en-US" sz="1050" b="1" i="0" dirty="0">
                <a:solidFill>
                  <a:srgbClr val="000000"/>
                </a:solidFill>
                <a:effectLst/>
                <a:latin typeface="Aptos (Body)"/>
              </a:rPr>
              <a:t>1</a:t>
            </a:r>
            <a:r>
              <a:rPr lang="en-US" sz="1050" i="0" dirty="0">
                <a:solidFill>
                  <a:srgbClr val="000000"/>
                </a:solidFill>
                <a:effectLst/>
                <a:latin typeface="Aptos (Body)"/>
              </a:rPr>
              <a:t> 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biospecimen collection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01988" y="2928403"/>
            <a:ext cx="2255628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6</a:t>
            </a:r>
            <a:r>
              <a:rPr lang="en-US" sz="1050" dirty="0"/>
              <a:t> Miscarriage</a:t>
            </a:r>
          </a:p>
          <a:p>
            <a:r>
              <a:rPr lang="en-US" sz="1050" b="1" dirty="0"/>
              <a:t>2</a:t>
            </a:r>
            <a:r>
              <a:rPr lang="en-US" sz="1050" dirty="0"/>
              <a:t> Discontinued, GA&gt;=16 </a:t>
            </a:r>
            <a:r>
              <a:rPr lang="en-US" sz="1050" dirty="0" err="1"/>
              <a:t>wks</a:t>
            </a:r>
            <a:r>
              <a:rPr lang="en-US" sz="1050" b="1" dirty="0"/>
              <a:t> </a:t>
            </a:r>
            <a:r>
              <a:rPr lang="en-US" sz="1050" dirty="0"/>
              <a:t>(USG)</a:t>
            </a:r>
          </a:p>
          <a:p>
            <a:r>
              <a:rPr lang="en-US" sz="1050" b="1" dirty="0"/>
              <a:t>5</a:t>
            </a:r>
            <a:r>
              <a:rPr lang="en-US" sz="1050" dirty="0"/>
              <a:t> Discontinued (PX)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biospecimen collection </a:t>
            </a:r>
          </a:p>
          <a:p>
            <a:r>
              <a:rPr lang="en-US" sz="1050" b="1" dirty="0"/>
              <a:t>1</a:t>
            </a:r>
            <a:r>
              <a:rPr lang="en-US" sz="1050" dirty="0"/>
              <a:t> Refused supplementation/not met</a:t>
            </a:r>
          </a:p>
        </p:txBody>
      </p:sp>
      <p:cxnSp>
        <p:nvCxnSpPr>
          <p:cNvPr id="101" name="Straight Arrow Connector 100"/>
          <p:cNvCxnSpPr>
            <a:cxnSpLocks/>
          </p:cNvCxnSpPr>
          <p:nvPr/>
        </p:nvCxnSpPr>
        <p:spPr>
          <a:xfrm flipH="1">
            <a:off x="523227" y="2857588"/>
            <a:ext cx="2711" cy="140068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cxnSpLocks/>
          </p:cNvCxnSpPr>
          <p:nvPr/>
        </p:nvCxnSpPr>
        <p:spPr>
          <a:xfrm flipH="1">
            <a:off x="3381052" y="2860587"/>
            <a:ext cx="5442" cy="1376662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cxnSpLocks/>
          </p:cNvCxnSpPr>
          <p:nvPr/>
        </p:nvCxnSpPr>
        <p:spPr>
          <a:xfrm flipH="1">
            <a:off x="6250045" y="2862382"/>
            <a:ext cx="14151" cy="1374867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>
            <a:cxnSpLocks/>
          </p:cNvCxnSpPr>
          <p:nvPr/>
        </p:nvCxnSpPr>
        <p:spPr>
          <a:xfrm flipH="1">
            <a:off x="9100969" y="2855802"/>
            <a:ext cx="10214" cy="139944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/>
          <p:cNvCxnSpPr/>
          <p:nvPr/>
        </p:nvCxnSpPr>
        <p:spPr>
          <a:xfrm>
            <a:off x="518014" y="3300803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3387610" y="3300967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6270754" y="330559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9105868" y="329901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927021" y="1738651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354 </a:t>
            </a:r>
            <a:r>
              <a:rPr lang="en-US" sz="1200" dirty="0">
                <a:solidFill>
                  <a:schemeClr val="tx1"/>
                </a:solidFill>
              </a:rPr>
              <a:t>pregnant women consented and randomized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-100094" y="233943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2659435" y="2314908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5866221" y="233196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41" name="TextBox 40"/>
          <p:cNvSpPr txBox="1"/>
          <p:nvPr/>
        </p:nvSpPr>
        <p:spPr>
          <a:xfrm>
            <a:off x="8434431" y="2329610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2967882" y="426187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started supplementation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9325" y="425827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80</a:t>
            </a:r>
            <a:r>
              <a:rPr lang="en-US" sz="1200" dirty="0"/>
              <a:t> started supplementation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2836" y="42666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73</a:t>
            </a:r>
            <a:r>
              <a:rPr lang="en-US" sz="1200" dirty="0"/>
              <a:t> started supplementation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2612" y="4611397"/>
            <a:ext cx="224853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2510" y="4600725"/>
            <a:ext cx="2247480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5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4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72190" y="4608497"/>
            <a:ext cx="2200929" cy="90024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6</a:t>
            </a:r>
            <a:r>
              <a:rPr lang="en-US" sz="1050" dirty="0"/>
              <a:t> Mid-pregnancy visits missed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visit/study participation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00569" y="4609902"/>
            <a:ext cx="2262363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1</a:t>
            </a:r>
            <a:r>
              <a:rPr lang="en-US" sz="1050" dirty="0"/>
              <a:t> Outcome</a:t>
            </a:r>
          </a:p>
          <a:p>
            <a:r>
              <a:rPr lang="en-US" sz="1050" b="1" dirty="0"/>
              <a:t>4 </a:t>
            </a:r>
            <a:r>
              <a:rPr lang="en-US" sz="1050" dirty="0"/>
              <a:t>Mid-pregnancy visits missed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35 weeks GA)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Refused visit/study participation</a:t>
            </a:r>
          </a:p>
        </p:txBody>
      </p:sp>
      <p:cxnSp>
        <p:nvCxnSpPr>
          <p:cNvPr id="82" name="Straight Arrow Connector 81"/>
          <p:cNvCxnSpPr>
            <a:cxnSpLocks/>
          </p:cNvCxnSpPr>
          <p:nvPr/>
        </p:nvCxnSpPr>
        <p:spPr>
          <a:xfrm flipH="1">
            <a:off x="523227" y="4542039"/>
            <a:ext cx="2712" cy="114362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cxnSpLocks/>
          </p:cNvCxnSpPr>
          <p:nvPr/>
        </p:nvCxnSpPr>
        <p:spPr>
          <a:xfrm>
            <a:off x="3386493" y="4536380"/>
            <a:ext cx="12718" cy="117018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cxnSpLocks/>
          </p:cNvCxnSpPr>
          <p:nvPr/>
        </p:nvCxnSpPr>
        <p:spPr>
          <a:xfrm>
            <a:off x="6264196" y="4534428"/>
            <a:ext cx="0" cy="118336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cxnSpLocks/>
          </p:cNvCxnSpPr>
          <p:nvPr/>
        </p:nvCxnSpPr>
        <p:spPr>
          <a:xfrm flipH="1">
            <a:off x="9111183" y="4543023"/>
            <a:ext cx="1" cy="113261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16595" y="497735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/>
          <p:nvPr/>
        </p:nvCxnSpPr>
        <p:spPr>
          <a:xfrm>
            <a:off x="3386191" y="497751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/>
          <p:nvPr/>
        </p:nvCxnSpPr>
        <p:spPr>
          <a:xfrm>
            <a:off x="6269335" y="4982147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/>
          <p:nvPr/>
        </p:nvCxnSpPr>
        <p:spPr>
          <a:xfrm>
            <a:off x="9104449" y="497556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06837" y="56915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72</a:t>
            </a:r>
            <a:r>
              <a:rPr lang="en-US" sz="1200" dirty="0"/>
              <a:t> mid-pregnancy visits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77226" y="571778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61 </a:t>
            </a:r>
            <a:r>
              <a:rPr lang="en-US" sz="1200" dirty="0"/>
              <a:t>mid-pregnancy visits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28862" y="572329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70 </a:t>
            </a:r>
            <a:r>
              <a:rPr lang="en-US" sz="1200" dirty="0"/>
              <a:t>mid-pregnancy visits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9571" y="569588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66</a:t>
            </a:r>
            <a:r>
              <a:rPr lang="en-US" sz="1200" dirty="0"/>
              <a:t> mid-pregnancy visits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7493" y="730607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late pregnancy visits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67882" y="729699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55</a:t>
            </a:r>
            <a:r>
              <a:rPr lang="en-US" sz="1200" dirty="0"/>
              <a:t> late pregnancy visits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831200" y="729338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62 </a:t>
            </a:r>
            <a:r>
              <a:rPr lang="en-US" sz="1200" dirty="0"/>
              <a:t>late pregnancy visits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82836" y="730178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late pregnancy visits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7493" y="811836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67</a:t>
            </a:r>
            <a:r>
              <a:rPr lang="en-US" sz="1200" dirty="0"/>
              <a:t> live born infants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977226" y="8117879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54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1</a:t>
            </a:r>
            <a:r>
              <a:rPr lang="en-US" sz="1200" dirty="0"/>
              <a:t> still born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831199" y="8114272"/>
            <a:ext cx="224866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60</a:t>
            </a:r>
            <a:r>
              <a:rPr lang="en-US" sz="1200" dirty="0"/>
              <a:t> live born infants</a:t>
            </a:r>
          </a:p>
          <a:p>
            <a:pPr algn="ctr"/>
            <a:r>
              <a:rPr lang="en-US" sz="1200" b="1" dirty="0"/>
              <a:t>2</a:t>
            </a:r>
            <a:r>
              <a:rPr lang="en-US" sz="1200" dirty="0"/>
              <a:t> still born infant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2836" y="811407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58</a:t>
            </a:r>
            <a:r>
              <a:rPr lang="en-US" sz="1200" dirty="0"/>
              <a:t> live born infants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1955" y="7717332"/>
            <a:ext cx="223919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 </a:t>
            </a:r>
            <a:r>
              <a:rPr lang="en-US" sz="1050" dirty="0"/>
              <a:t>Pending outcome</a:t>
            </a:r>
          </a:p>
        </p:txBody>
      </p:sp>
      <p:cxnSp>
        <p:nvCxnSpPr>
          <p:cNvPr id="140" name="Straight Arrow Connector 139"/>
          <p:cNvCxnSpPr>
            <a:cxnSpLocks/>
          </p:cNvCxnSpPr>
          <p:nvPr/>
        </p:nvCxnSpPr>
        <p:spPr>
          <a:xfrm>
            <a:off x="525938" y="7577156"/>
            <a:ext cx="0" cy="5213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>
            <a:cxnSpLocks/>
            <a:endCxn id="132" idx="1"/>
          </p:cNvCxnSpPr>
          <p:nvPr/>
        </p:nvCxnSpPr>
        <p:spPr>
          <a:xfrm flipV="1">
            <a:off x="524821" y="7844290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/>
          <p:cNvSpPr txBox="1"/>
          <p:nvPr/>
        </p:nvSpPr>
        <p:spPr>
          <a:xfrm>
            <a:off x="3584475" y="7711859"/>
            <a:ext cx="2248668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Pending outcome</a:t>
            </a:r>
          </a:p>
        </p:txBody>
      </p:sp>
      <p:cxnSp>
        <p:nvCxnSpPr>
          <p:cNvPr id="165" name="Straight Arrow Connector 164"/>
          <p:cNvCxnSpPr>
            <a:cxnSpLocks/>
          </p:cNvCxnSpPr>
          <p:nvPr/>
        </p:nvCxnSpPr>
        <p:spPr>
          <a:xfrm flipH="1">
            <a:off x="3381052" y="7571496"/>
            <a:ext cx="5440" cy="52703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>
            <a:cxnSpLocks/>
            <a:endCxn id="164" idx="1"/>
          </p:cNvCxnSpPr>
          <p:nvPr/>
        </p:nvCxnSpPr>
        <p:spPr>
          <a:xfrm flipV="1">
            <a:off x="3387341" y="7838817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6468000" y="7718316"/>
            <a:ext cx="2210644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0</a:t>
            </a:r>
            <a:r>
              <a:rPr lang="en-US" sz="1050" dirty="0"/>
              <a:t> Pending outcome</a:t>
            </a:r>
          </a:p>
        </p:txBody>
      </p:sp>
      <p:cxnSp>
        <p:nvCxnSpPr>
          <p:cNvPr id="168" name="Straight Arrow Connector 167"/>
          <p:cNvCxnSpPr>
            <a:cxnSpLocks/>
          </p:cNvCxnSpPr>
          <p:nvPr/>
        </p:nvCxnSpPr>
        <p:spPr>
          <a:xfrm>
            <a:off x="6276071" y="7569544"/>
            <a:ext cx="0" cy="52898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>
            <a:cxnSpLocks/>
            <a:endCxn id="167" idx="1"/>
          </p:cNvCxnSpPr>
          <p:nvPr/>
        </p:nvCxnSpPr>
        <p:spPr>
          <a:xfrm flipV="1">
            <a:off x="6270866" y="7845274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9304770" y="7718317"/>
            <a:ext cx="2258162" cy="2539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/>
              <a:t> </a:t>
            </a:r>
            <a:r>
              <a:rPr lang="en-US" sz="1050" b="1" dirty="0"/>
              <a:t>0</a:t>
            </a:r>
            <a:r>
              <a:rPr lang="en-US" sz="1050" dirty="0"/>
              <a:t> Pending outcome</a:t>
            </a:r>
          </a:p>
        </p:txBody>
      </p:sp>
      <p:cxnSp>
        <p:nvCxnSpPr>
          <p:cNvPr id="171" name="Straight Arrow Connector 170"/>
          <p:cNvCxnSpPr>
            <a:cxnSpLocks/>
          </p:cNvCxnSpPr>
          <p:nvPr/>
        </p:nvCxnSpPr>
        <p:spPr>
          <a:xfrm flipH="1">
            <a:off x="9107636" y="7578139"/>
            <a:ext cx="3547" cy="52039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cxnSpLocks/>
            <a:endCxn id="170" idx="1"/>
          </p:cNvCxnSpPr>
          <p:nvPr/>
        </p:nvCxnSpPr>
        <p:spPr>
          <a:xfrm flipV="1">
            <a:off x="9107636" y="7845275"/>
            <a:ext cx="197134" cy="115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/>
          <p:cNvCxnSpPr>
            <a:cxnSpLocks/>
            <a:stCxn id="4" idx="2"/>
            <a:endCxn id="11" idx="0"/>
          </p:cNvCxnSpPr>
          <p:nvPr/>
        </p:nvCxnSpPr>
        <p:spPr>
          <a:xfrm>
            <a:off x="5580648" y="763860"/>
            <a:ext cx="0" cy="11223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/>
          <p:cNvCxnSpPr>
            <a:stCxn id="11" idx="2"/>
            <a:endCxn id="15" idx="0"/>
          </p:cNvCxnSpPr>
          <p:nvPr/>
        </p:nvCxnSpPr>
        <p:spPr>
          <a:xfrm>
            <a:off x="5580648" y="1153093"/>
            <a:ext cx="0" cy="10023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stCxn id="15" idx="2"/>
            <a:endCxn id="37" idx="0"/>
          </p:cNvCxnSpPr>
          <p:nvPr/>
        </p:nvCxnSpPr>
        <p:spPr>
          <a:xfrm>
            <a:off x="5580648" y="1530326"/>
            <a:ext cx="0" cy="20832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37" idx="3"/>
          </p:cNvCxnSpPr>
          <p:nvPr/>
        </p:nvCxnSpPr>
        <p:spPr>
          <a:xfrm flipH="1">
            <a:off x="1934175" y="215308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/>
          <p:cNvCxnSpPr/>
          <p:nvPr/>
        </p:nvCxnSpPr>
        <p:spPr>
          <a:xfrm flipH="1">
            <a:off x="4765920" y="221150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/>
          <p:cNvCxnSpPr/>
          <p:nvPr/>
        </p:nvCxnSpPr>
        <p:spPr>
          <a:xfrm>
            <a:off x="5993242" y="2213038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/>
          <p:cNvCxnSpPr>
            <a:stCxn id="37" idx="5"/>
          </p:cNvCxnSpPr>
          <p:nvPr/>
        </p:nvCxnSpPr>
        <p:spPr>
          <a:xfrm>
            <a:off x="6749939" y="215308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TextBox 191"/>
          <p:cNvSpPr txBox="1"/>
          <p:nvPr/>
        </p:nvSpPr>
        <p:spPr>
          <a:xfrm>
            <a:off x="11439993" y="2319381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639959" y="2566302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354</a:t>
            </a:r>
            <a:endParaRPr lang="en-US" sz="1200" dirty="0"/>
          </a:p>
        </p:txBody>
      </p:sp>
      <p:sp>
        <p:nvSpPr>
          <p:cNvPr id="194" name="TextBox 193"/>
          <p:cNvSpPr txBox="1"/>
          <p:nvPr/>
        </p:nvSpPr>
        <p:spPr>
          <a:xfrm>
            <a:off x="11657154" y="426062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302</a:t>
            </a:r>
            <a:endParaRPr lang="en-US" sz="1200" dirty="0"/>
          </a:p>
        </p:txBody>
      </p:sp>
      <p:sp>
        <p:nvSpPr>
          <p:cNvPr id="195" name="TextBox 194"/>
          <p:cNvSpPr txBox="1"/>
          <p:nvPr/>
        </p:nvSpPr>
        <p:spPr>
          <a:xfrm>
            <a:off x="11673233" y="570751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269</a:t>
            </a:r>
            <a:endParaRPr lang="en-US" sz="1200" dirty="0"/>
          </a:p>
        </p:txBody>
      </p:sp>
      <p:sp>
        <p:nvSpPr>
          <p:cNvPr id="196" name="TextBox 195"/>
          <p:cNvSpPr txBox="1"/>
          <p:nvPr/>
        </p:nvSpPr>
        <p:spPr>
          <a:xfrm>
            <a:off x="11666498" y="727748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242</a:t>
            </a:r>
            <a:endParaRPr lang="en-US" sz="1200" dirty="0"/>
          </a:p>
        </p:txBody>
      </p:sp>
      <p:sp>
        <p:nvSpPr>
          <p:cNvPr id="197" name="TextBox 196"/>
          <p:cNvSpPr txBox="1"/>
          <p:nvPr/>
        </p:nvSpPr>
        <p:spPr>
          <a:xfrm>
            <a:off x="11666498" y="8098529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242</a:t>
            </a:r>
            <a:endParaRPr lang="en-US" sz="1200" dirty="0"/>
          </a:p>
        </p:txBody>
      </p:sp>
      <p:cxnSp>
        <p:nvCxnSpPr>
          <p:cNvPr id="284" name="Straight Arrow Connector 283"/>
          <p:cNvCxnSpPr/>
          <p:nvPr/>
        </p:nvCxnSpPr>
        <p:spPr>
          <a:xfrm>
            <a:off x="5580649" y="1632611"/>
            <a:ext cx="2134579" cy="548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/>
          <p:cNvCxnSpPr>
            <a:cxnSpLocks/>
          </p:cNvCxnSpPr>
          <p:nvPr/>
        </p:nvCxnSpPr>
        <p:spPr>
          <a:xfrm flipH="1">
            <a:off x="531254" y="5984518"/>
            <a:ext cx="1420" cy="130886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/>
          <p:cNvCxnSpPr>
            <a:cxnSpLocks/>
          </p:cNvCxnSpPr>
          <p:nvPr/>
        </p:nvCxnSpPr>
        <p:spPr>
          <a:xfrm flipH="1">
            <a:off x="3386191" y="5992290"/>
            <a:ext cx="9646" cy="128519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Arrow Connector 291"/>
          <p:cNvCxnSpPr>
            <a:cxnSpLocks/>
          </p:cNvCxnSpPr>
          <p:nvPr/>
        </p:nvCxnSpPr>
        <p:spPr>
          <a:xfrm flipH="1">
            <a:off x="6270866" y="5994787"/>
            <a:ext cx="2867" cy="129860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/>
          <p:cNvCxnSpPr>
            <a:cxnSpLocks/>
          </p:cNvCxnSpPr>
          <p:nvPr/>
        </p:nvCxnSpPr>
        <p:spPr>
          <a:xfrm flipH="1">
            <a:off x="9111183" y="5972241"/>
            <a:ext cx="6736" cy="1305244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le 1"/>
          <p:cNvSpPr txBox="1"/>
          <p:nvPr/>
        </p:nvSpPr>
        <p:spPr bwMode="auto">
          <a:xfrm>
            <a:off x="396448" y="724604"/>
            <a:ext cx="1733685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PW Trial Consort</a:t>
            </a:r>
            <a:endParaRPr lang="en-US" sz="3200" kern="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6B7BF97-FD29-4B8E-84DF-E115D1549723}"/>
              </a:ext>
            </a:extLst>
          </p:cNvPr>
          <p:cNvSpPr txBox="1"/>
          <p:nvPr/>
        </p:nvSpPr>
        <p:spPr>
          <a:xfrm>
            <a:off x="772031" y="6102453"/>
            <a:ext cx="2205195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3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1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Not met( had an outcome just after scheduled for LPF)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1615B3A-3FBA-41A3-9641-481CD0C6BE52}"/>
              </a:ext>
            </a:extLst>
          </p:cNvPr>
          <p:cNvSpPr txBox="1"/>
          <p:nvPr/>
        </p:nvSpPr>
        <p:spPr>
          <a:xfrm>
            <a:off x="3641929" y="6102638"/>
            <a:ext cx="2193475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4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2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6597A6-3B92-4EBD-9626-A72B2B148FA0}"/>
              </a:ext>
            </a:extLst>
          </p:cNvPr>
          <p:cNvSpPr txBox="1"/>
          <p:nvPr/>
        </p:nvSpPr>
        <p:spPr>
          <a:xfrm>
            <a:off x="6531507" y="6097895"/>
            <a:ext cx="2167408" cy="10618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5</a:t>
            </a:r>
            <a:r>
              <a:rPr lang="en-US" sz="1050" dirty="0"/>
              <a:t> Outcomes</a:t>
            </a:r>
          </a:p>
          <a:p>
            <a:pPr algn="l"/>
            <a:r>
              <a:rPr lang="en-US" sz="1050" b="1" dirty="0">
                <a:solidFill>
                  <a:srgbClr val="000000"/>
                </a:solidFill>
                <a:latin typeface="Aptos (Body)"/>
              </a:rPr>
              <a:t>2</a:t>
            </a:r>
            <a:r>
              <a:rPr lang="en-US" sz="1050" b="0" i="0" dirty="0">
                <a:solidFill>
                  <a:srgbClr val="000000"/>
                </a:solidFill>
                <a:effectLst/>
                <a:latin typeface="Aptos (Body)"/>
              </a:rPr>
              <a:t> 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Not met( had an outcome just after scheduled for LPF)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0 </a:t>
            </a:r>
            <a:r>
              <a:rPr lang="en-US" sz="1050" dirty="0"/>
              <a:t>Refused visit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C374FDB-5D21-4B43-8585-B1F0B70ED270}"/>
              </a:ext>
            </a:extLst>
          </p:cNvPr>
          <p:cNvSpPr txBox="1"/>
          <p:nvPr/>
        </p:nvSpPr>
        <p:spPr>
          <a:xfrm>
            <a:off x="9366620" y="6099580"/>
            <a:ext cx="2212391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dirty="0"/>
              <a:t>2</a:t>
            </a:r>
            <a:r>
              <a:rPr lang="en-US" sz="1050" dirty="0"/>
              <a:t> Outcomes</a:t>
            </a:r>
          </a:p>
          <a:p>
            <a:r>
              <a:rPr lang="en-US" sz="1050" b="1" dirty="0"/>
              <a:t>3</a:t>
            </a:r>
            <a:r>
              <a:rPr lang="en-US" sz="1050" dirty="0"/>
              <a:t> Not met (up to any outcome)</a:t>
            </a:r>
          </a:p>
          <a:p>
            <a:r>
              <a:rPr lang="en-US" sz="1050" b="1" dirty="0"/>
              <a:t>1 </a:t>
            </a:r>
            <a:r>
              <a:rPr lang="en-US" sz="1050" dirty="0"/>
              <a:t>Discontinued (PX)</a:t>
            </a:r>
          </a:p>
          <a:p>
            <a:r>
              <a:rPr lang="en-US" sz="1050" b="1" dirty="0"/>
              <a:t>2 </a:t>
            </a:r>
            <a:r>
              <a:rPr lang="en-US" sz="1050" dirty="0"/>
              <a:t>Refused visit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3AA2308-8AFA-414D-842E-F6D8EF318E66}"/>
              </a:ext>
            </a:extLst>
          </p:cNvPr>
          <p:cNvCxnSpPr>
            <a:cxnSpLocks/>
          </p:cNvCxnSpPr>
          <p:nvPr/>
        </p:nvCxnSpPr>
        <p:spPr>
          <a:xfrm>
            <a:off x="539409" y="6324459"/>
            <a:ext cx="23935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BB39CE-962E-427E-9B8F-859A250300E6}"/>
              </a:ext>
            </a:extLst>
          </p:cNvPr>
          <p:cNvCxnSpPr>
            <a:cxnSpLocks/>
          </p:cNvCxnSpPr>
          <p:nvPr/>
        </p:nvCxnSpPr>
        <p:spPr>
          <a:xfrm flipV="1">
            <a:off x="3409005" y="6324623"/>
            <a:ext cx="232924" cy="297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CD584E24-4042-49B1-8EFC-AB485CA2AE56}"/>
              </a:ext>
            </a:extLst>
          </p:cNvPr>
          <p:cNvCxnSpPr>
            <a:cxnSpLocks/>
          </p:cNvCxnSpPr>
          <p:nvPr/>
        </p:nvCxnSpPr>
        <p:spPr>
          <a:xfrm>
            <a:off x="6286945" y="6329252"/>
            <a:ext cx="244562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5A5EEAF-8B6D-44B4-8862-ECB5EA397540}"/>
              </a:ext>
            </a:extLst>
          </p:cNvPr>
          <p:cNvCxnSpPr>
            <a:cxnSpLocks/>
          </p:cNvCxnSpPr>
          <p:nvPr/>
        </p:nvCxnSpPr>
        <p:spPr>
          <a:xfrm flipV="1">
            <a:off x="9132578" y="6322673"/>
            <a:ext cx="234042" cy="3803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10407</TotalTime>
  <Words>457</Words>
  <Application>Microsoft Office PowerPoint</Application>
  <PresentationFormat>Custom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(Body)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38</cp:revision>
  <dcterms:created xsi:type="dcterms:W3CDTF">2024-04-26T15:51:54Z</dcterms:created>
  <dcterms:modified xsi:type="dcterms:W3CDTF">2025-06-03T13:35:26Z</dcterms:modified>
</cp:coreProperties>
</file>