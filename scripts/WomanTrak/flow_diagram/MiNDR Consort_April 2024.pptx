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3" r:id="rId2"/>
    <p:sldId id="31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1" d="100"/>
          <a:sy n="61" d="100"/>
        </p:scale>
        <p:origin x="49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OF FEB 22 2024:</a:t>
            </a:r>
          </a:p>
          <a:p>
            <a:r>
              <a:rPr lang="en-US" dirty="0"/>
              <a:t>Total under pregnancy surveillance: 18,601 women</a:t>
            </a:r>
          </a:p>
          <a:p>
            <a:r>
              <a:rPr lang="en-US" dirty="0"/>
              <a:t>Total pregnancies detected: 2951</a:t>
            </a:r>
          </a:p>
          <a:p>
            <a:r>
              <a:rPr lang="en-US" dirty="0"/>
              <a:t>Total pregnant women enrolled: 2389</a:t>
            </a:r>
          </a:p>
          <a:p>
            <a:r>
              <a:rPr lang="en-US" dirty="0"/>
              <a:t>Total live births to date: 943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6836" y="131039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2810" y="520273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3991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2810" y="897506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559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19" y="22306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09" y="223026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3126" y="22304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4762" y="222362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03" y="34936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51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7154" y="908617"/>
            <a:ext cx="3062766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237 </a:t>
            </a:r>
            <a:r>
              <a:rPr lang="en-US" sz="1200" dirty="0"/>
              <a:t>ineligible gestational age (&gt;16 weeks)</a:t>
            </a:r>
            <a:endParaRPr lang="en-US" sz="1200" b="1" dirty="0"/>
          </a:p>
          <a:p>
            <a:r>
              <a:rPr lang="en-US" sz="1200" b="1" dirty="0"/>
              <a:t>4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22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</a:t>
            </a:r>
          </a:p>
          <a:p>
            <a:r>
              <a:rPr lang="en-US" sz="1200" b="1" dirty="0"/>
              <a:t>3</a:t>
            </a:r>
            <a:r>
              <a:rPr lang="en-US" sz="1200" dirty="0"/>
              <a:t> Enrolment pending</a:t>
            </a:r>
            <a:endParaRPr lang="en-US" sz="12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1428581" y="2583509"/>
            <a:ext cx="1455629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4293926" y="2577031"/>
            <a:ext cx="1455357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4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89" name="TextBox 88"/>
          <p:cNvSpPr txBox="1"/>
          <p:nvPr/>
        </p:nvSpPr>
        <p:spPr>
          <a:xfrm>
            <a:off x="7158266" y="2573423"/>
            <a:ext cx="1453896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4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10009903" y="2573226"/>
            <a:ext cx="1453896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6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2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cxnSp>
        <p:nvCxnSpPr>
          <p:cNvPr id="101" name="Straight Arrow Connector 100"/>
          <p:cNvCxnSpPr>
            <a:stCxn id="20" idx="2"/>
            <a:endCxn id="28" idx="0"/>
          </p:cNvCxnSpPr>
          <p:nvPr/>
        </p:nvCxnSpPr>
        <p:spPr>
          <a:xfrm flipH="1">
            <a:off x="1228438" y="2507684"/>
            <a:ext cx="5316" cy="98593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21" idx="2"/>
            <a:endCxn id="67" idx="0"/>
          </p:cNvCxnSpPr>
          <p:nvPr/>
        </p:nvCxnSpPr>
        <p:spPr>
          <a:xfrm flipH="1">
            <a:off x="4098827" y="2507262"/>
            <a:ext cx="5317" cy="9772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2" idx="2"/>
            <a:endCxn id="68" idx="0"/>
          </p:cNvCxnSpPr>
          <p:nvPr/>
        </p:nvCxnSpPr>
        <p:spPr>
          <a:xfrm flipH="1">
            <a:off x="6962145" y="2507401"/>
            <a:ext cx="5316" cy="9735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23" idx="2"/>
            <a:endCxn id="69" idx="0"/>
          </p:cNvCxnSpPr>
          <p:nvPr/>
        </p:nvCxnSpPr>
        <p:spPr>
          <a:xfrm flipH="1">
            <a:off x="9813781" y="2500625"/>
            <a:ext cx="5316" cy="9887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225829" y="295089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4105261" y="294764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962145" y="295061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813781" y="294384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38948" y="1382829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251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88167" y="19836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71362" y="1959086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78148" y="197613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46358" y="197378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74492" y="348453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37810" y="348093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53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9446" y="348932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5111" y="3861872"/>
            <a:ext cx="147674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47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4294845" y="3861386"/>
            <a:ext cx="1531284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Refusal</a:t>
            </a:r>
          </a:p>
          <a:p>
            <a:r>
              <a:rPr lang="en-US" sz="1200" b="1" dirty="0"/>
              <a:t>47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7158265" y="4067149"/>
            <a:ext cx="1542863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49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81" name="TextBox 80"/>
          <p:cNvSpPr txBox="1"/>
          <p:nvPr/>
        </p:nvSpPr>
        <p:spPr>
          <a:xfrm>
            <a:off x="10003167" y="3828259"/>
            <a:ext cx="1531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Refusals</a:t>
            </a:r>
          </a:p>
          <a:p>
            <a:r>
              <a:rPr lang="en-US" sz="1200" b="1" dirty="0"/>
              <a:t>46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cxnSp>
        <p:nvCxnSpPr>
          <p:cNvPr id="82" name="Straight Arrow Connector 81"/>
          <p:cNvCxnSpPr>
            <a:stCxn id="28" idx="2"/>
            <a:endCxn id="102" idx="0"/>
          </p:cNvCxnSpPr>
          <p:nvPr/>
        </p:nvCxnSpPr>
        <p:spPr>
          <a:xfrm flipH="1">
            <a:off x="1221703" y="3770616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2"/>
            <a:endCxn id="104" idx="0"/>
          </p:cNvCxnSpPr>
          <p:nvPr/>
        </p:nvCxnSpPr>
        <p:spPr>
          <a:xfrm flipH="1">
            <a:off x="4092092" y="3761537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8" idx="2"/>
            <a:endCxn id="105" idx="0"/>
          </p:cNvCxnSpPr>
          <p:nvPr/>
        </p:nvCxnSpPr>
        <p:spPr>
          <a:xfrm flipH="1">
            <a:off x="6955410" y="3757929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9" idx="2"/>
            <a:endCxn id="106" idx="0"/>
          </p:cNvCxnSpPr>
          <p:nvPr/>
        </p:nvCxnSpPr>
        <p:spPr>
          <a:xfrm flipH="1">
            <a:off x="9807046" y="3766327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219094" y="4205932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4098526" y="4202676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955410" y="4205649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807046" y="419887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7368" y="454323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67757" y="45341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</a:t>
            </a:r>
            <a:r>
              <a:rPr lang="en-US" sz="1200" dirty="0"/>
              <a:t> 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31075" y="453054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2711" y="453894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759" y="497414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9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5148" y="496507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28466" y="496146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0102" y="496986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759" y="57082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4492" y="57077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28465" y="570412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0102" y="5703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15111" y="5313105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Stillbirths</a:t>
            </a:r>
          </a:p>
        </p:txBody>
      </p:sp>
      <p:cxnSp>
        <p:nvCxnSpPr>
          <p:cNvPr id="140" name="Straight Arrow Connector 139"/>
          <p:cNvCxnSpPr>
            <a:stCxn id="119" idx="2"/>
            <a:endCxn id="125" idx="0"/>
          </p:cNvCxnSpPr>
          <p:nvPr/>
        </p:nvCxnSpPr>
        <p:spPr>
          <a:xfrm>
            <a:off x="1219094" y="5251148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32" idx="1"/>
          </p:cNvCxnSpPr>
          <p:nvPr/>
        </p:nvCxnSpPr>
        <p:spPr>
          <a:xfrm>
            <a:off x="1217977" y="5451605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287466" y="5304212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Stillbirths</a:t>
            </a:r>
          </a:p>
        </p:txBody>
      </p:sp>
      <p:cxnSp>
        <p:nvCxnSpPr>
          <p:cNvPr id="165" name="Straight Arrow Connector 164"/>
          <p:cNvCxnSpPr>
            <a:stCxn id="120" idx="2"/>
            <a:endCxn id="126" idx="0"/>
          </p:cNvCxnSpPr>
          <p:nvPr/>
        </p:nvCxnSpPr>
        <p:spPr>
          <a:xfrm>
            <a:off x="4089483" y="5242069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64" idx="1"/>
          </p:cNvCxnSpPr>
          <p:nvPr/>
        </p:nvCxnSpPr>
        <p:spPr>
          <a:xfrm>
            <a:off x="4090332" y="5442712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44731" y="5309013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Stillbirths</a:t>
            </a:r>
          </a:p>
        </p:txBody>
      </p:sp>
      <p:cxnSp>
        <p:nvCxnSpPr>
          <p:cNvPr id="168" name="Straight Arrow Connector 167"/>
          <p:cNvCxnSpPr>
            <a:stCxn id="122" idx="2"/>
          </p:cNvCxnSpPr>
          <p:nvPr/>
        </p:nvCxnSpPr>
        <p:spPr>
          <a:xfrm flipH="1">
            <a:off x="6948714" y="5238461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endCxn id="167" idx="1"/>
          </p:cNvCxnSpPr>
          <p:nvPr/>
        </p:nvCxnSpPr>
        <p:spPr>
          <a:xfrm>
            <a:off x="6947597" y="5447513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998024" y="5308817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Stillbirths</a:t>
            </a:r>
          </a:p>
        </p:txBody>
      </p:sp>
      <p:cxnSp>
        <p:nvCxnSpPr>
          <p:cNvPr id="171" name="Straight Arrow Connector 170"/>
          <p:cNvCxnSpPr>
            <a:stCxn id="124" idx="2"/>
          </p:cNvCxnSpPr>
          <p:nvPr/>
        </p:nvCxnSpPr>
        <p:spPr>
          <a:xfrm flipH="1">
            <a:off x="9802007" y="5246859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endCxn id="170" idx="1"/>
          </p:cNvCxnSpPr>
          <p:nvPr/>
        </p:nvCxnSpPr>
        <p:spPr>
          <a:xfrm>
            <a:off x="9800890" y="5447317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92575" y="408038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92575" y="797272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92575" y="1174505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46102" y="1797261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77847" y="185568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005168" y="1857216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61866" y="1797261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51920" y="1963559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51886" y="221048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251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63765" y="348328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203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63765" y="452861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3765" y="494556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3765" y="568838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92575" y="1276789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stCxn id="102" idx="2"/>
            <a:endCxn id="119" idx="0"/>
          </p:cNvCxnSpPr>
          <p:nvPr/>
        </p:nvCxnSpPr>
        <p:spPr>
          <a:xfrm flipH="1">
            <a:off x="1219094" y="4820231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stCxn id="104" idx="2"/>
            <a:endCxn id="120" idx="0"/>
          </p:cNvCxnSpPr>
          <p:nvPr/>
        </p:nvCxnSpPr>
        <p:spPr>
          <a:xfrm flipH="1">
            <a:off x="4089483" y="4811152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stCxn id="105" idx="2"/>
            <a:endCxn id="122" idx="0"/>
          </p:cNvCxnSpPr>
          <p:nvPr/>
        </p:nvCxnSpPr>
        <p:spPr>
          <a:xfrm flipH="1">
            <a:off x="6952801" y="4807544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106" idx="2"/>
            <a:endCxn id="124" idx="0"/>
          </p:cNvCxnSpPr>
          <p:nvPr/>
        </p:nvCxnSpPr>
        <p:spPr>
          <a:xfrm flipH="1">
            <a:off x="9804437" y="4815942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408374" y="368782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689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99" y="23522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</a:t>
            </a:r>
            <a:r>
              <a:rPr lang="en-US" sz="1200" dirty="0"/>
              <a:t> 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89" y="235185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</a:t>
            </a:r>
            <a:r>
              <a:rPr lang="en-US" sz="1200" dirty="0"/>
              <a:t> 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6" y="23519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2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21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3" y="3794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21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1" y="2731604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2725126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5" y="2721518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989583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2629275"/>
            <a:ext cx="5316" cy="11648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7" y="2628853"/>
            <a:ext cx="5317" cy="1156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2628992"/>
            <a:ext cx="5316" cy="11524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30" idx="0"/>
          </p:cNvCxnSpPr>
          <p:nvPr/>
        </p:nvCxnSpPr>
        <p:spPr>
          <a:xfrm flipH="1">
            <a:off x="9793461" y="2622216"/>
            <a:ext cx="5316" cy="116760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09" y="3098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3095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3098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1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95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2" y="37850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0" y="37814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9126" y="37898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21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4791" y="4387370"/>
            <a:ext cx="1557662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21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4274525" y="4394146"/>
            <a:ext cx="15362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22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137946" y="4394146"/>
            <a:ext cx="1542862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23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984266" y="4386558"/>
            <a:ext cx="15587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21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endCxn id="43" idx="0"/>
          </p:cNvCxnSpPr>
          <p:nvPr/>
        </p:nvCxnSpPr>
        <p:spPr>
          <a:xfrm flipH="1">
            <a:off x="1201383" y="4063210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44" idx="0"/>
          </p:cNvCxnSpPr>
          <p:nvPr/>
        </p:nvCxnSpPr>
        <p:spPr>
          <a:xfrm flipH="1">
            <a:off x="4071772" y="4062788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45" idx="0"/>
          </p:cNvCxnSpPr>
          <p:nvPr/>
        </p:nvCxnSpPr>
        <p:spPr>
          <a:xfrm flipH="1">
            <a:off x="6935090" y="4062927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6" idx="0"/>
          </p:cNvCxnSpPr>
          <p:nvPr/>
        </p:nvCxnSpPr>
        <p:spPr>
          <a:xfrm flipH="1">
            <a:off x="9786726" y="4056151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4" y="453292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452967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453264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786726" y="452587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8" y="487685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7" y="48677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5" y="4864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2391" y="487256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9" y="538065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4828" y="537157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8146" y="536797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9782" y="537636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95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78378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87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1643445" y="486223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11643445" y="535206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4" y="368782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Widescreen</PresentationFormat>
  <Paragraphs>111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Eleonor Zavala</cp:lastModifiedBy>
  <cp:revision>1</cp:revision>
  <dcterms:created xsi:type="dcterms:W3CDTF">2024-04-26T15:51:54Z</dcterms:created>
  <dcterms:modified xsi:type="dcterms:W3CDTF">2024-04-26T15:56:00Z</dcterms:modified>
</cp:coreProperties>
</file>