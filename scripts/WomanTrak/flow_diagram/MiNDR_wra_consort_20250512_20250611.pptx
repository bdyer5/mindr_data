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1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100" d="100"/>
          <a:sy n="100" d="100"/>
        </p:scale>
        <p:origin x="125" y="-10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Dyer" userId="f4d252ae-ea01-4f62-a905-b25723068793" providerId="ADAL" clId="{152B85CF-89B2-41B1-B522-F1F8F89422E0}"/>
    <pc:docChg chg="undo custSel modSld">
      <pc:chgData name="Brian Dyer" userId="f4d252ae-ea01-4f62-a905-b25723068793" providerId="ADAL" clId="{152B85CF-89B2-41B1-B522-F1F8F89422E0}" dt="2024-12-18T07:35:52.156" v="67" actId="20577"/>
      <pc:docMkLst>
        <pc:docMk/>
      </pc:docMkLst>
      <pc:sldChg chg="delSp modSp mod">
        <pc:chgData name="Brian Dyer" userId="f4d252ae-ea01-4f62-a905-b25723068793" providerId="ADAL" clId="{152B85CF-89B2-41B1-B522-F1F8F89422E0}" dt="2024-12-18T07:35:52.156" v="67" actId="20577"/>
        <pc:sldMkLst>
          <pc:docMk/>
          <pc:sldMk cId="0" sldId="312"/>
        </pc:sldMkLst>
      </pc:sldChg>
    </pc:docChg>
  </pc:docChgLst>
  <pc:docChgLst>
    <pc:chgData name="Brian Dyer" userId="f4d252ae-ea01-4f62-a905-b25723068793" providerId="ADAL" clId="{81A2525F-DA87-4F06-BC65-07DD103C4263}"/>
    <pc:docChg chg="modSld">
      <pc:chgData name="Brian Dyer" userId="f4d252ae-ea01-4f62-a905-b25723068793" providerId="ADAL" clId="{81A2525F-DA87-4F06-BC65-07DD103C4263}" dt="2025-06-03T20:49:56.717" v="2" actId="20577"/>
      <pc:docMkLst>
        <pc:docMk/>
      </pc:docMkLst>
      <pc:sldChg chg="modSp mod">
        <pc:chgData name="Brian Dyer" userId="f4d252ae-ea01-4f62-a905-b25723068793" providerId="ADAL" clId="{81A2525F-DA87-4F06-BC65-07DD103C4263}" dt="2025-06-03T20:49:56.717" v="2" actId="20577"/>
        <pc:sldMkLst>
          <pc:docMk/>
          <pc:sldMk cId="0" sldId="312"/>
        </pc:sldMkLst>
        <pc:spChg chg="mod">
          <ac:chgData name="Brian Dyer" userId="f4d252ae-ea01-4f62-a905-b25723068793" providerId="ADAL" clId="{81A2525F-DA87-4F06-BC65-07DD103C4263}" dt="2025-06-03T20:49:56.717" v="2" actId="20577"/>
          <ac:spMkLst>
            <pc:docMk/>
            <pc:sldMk cId="0" sldId="312"/>
            <ac:spMk id="49" creationId="{00000000-0000-0000-0000-000000000000}"/>
          </ac:spMkLst>
        </pc:spChg>
        <pc:spChg chg="mod">
          <ac:chgData name="Brian Dyer" userId="f4d252ae-ea01-4f62-a905-b25723068793" providerId="ADAL" clId="{81A2525F-DA87-4F06-BC65-07DD103C4263}" dt="2025-06-03T20:49:49.476" v="0" actId="6549"/>
          <ac:spMkLst>
            <pc:docMk/>
            <pc:sldMk cId="0" sldId="312"/>
            <ac:spMk id="76" creationId="{A4C2FC7E-CF82-CC8A-8149-F4E0FFBB317F}"/>
          </ac:spMkLst>
        </pc:spChg>
      </pc:sldChg>
    </pc:docChg>
  </pc:docChgLst>
  <pc:docChgLst>
    <pc:chgData name="Brian Dyer" userId="f4d252ae-ea01-4f62-a905-b25723068793" providerId="ADAL" clId="{98F96EFB-F085-4B98-B565-8796B3A3E128}"/>
    <pc:docChg chg="modSld">
      <pc:chgData name="Brian Dyer" userId="f4d252ae-ea01-4f62-a905-b25723068793" providerId="ADAL" clId="{98F96EFB-F085-4B98-B565-8796B3A3E128}" dt="2025-04-29T16:50:37.180" v="23" actId="6549"/>
      <pc:docMkLst>
        <pc:docMk/>
      </pc:docMkLst>
      <pc:sldChg chg="modSp mod">
        <pc:chgData name="Brian Dyer" userId="f4d252ae-ea01-4f62-a905-b25723068793" providerId="ADAL" clId="{98F96EFB-F085-4B98-B565-8796B3A3E128}" dt="2025-04-29T16:50:37.180" v="23" actId="6549"/>
        <pc:sldMkLst>
          <pc:docMk/>
          <pc:sldMk cId="0" sldId="312"/>
        </pc:sldMkLst>
        <pc:spChg chg="mod">
          <ac:chgData name="Brian Dyer" userId="f4d252ae-ea01-4f62-a905-b25723068793" providerId="ADAL" clId="{98F96EFB-F085-4B98-B565-8796B3A3E128}" dt="2025-04-29T16:50:28.237" v="20" actId="20577"/>
          <ac:spMkLst>
            <pc:docMk/>
            <pc:sldMk cId="0" sldId="312"/>
            <ac:spMk id="11" creationId="{00000000-0000-0000-0000-000000000000}"/>
          </ac:spMkLst>
        </pc:spChg>
        <pc:spChg chg="mod">
          <ac:chgData name="Brian Dyer" userId="f4d252ae-ea01-4f62-a905-b25723068793" providerId="ADAL" clId="{98F96EFB-F085-4B98-B565-8796B3A3E128}" dt="2025-04-29T16:46:50.538" v="17" actId="20577"/>
          <ac:spMkLst>
            <pc:docMk/>
            <pc:sldMk cId="0" sldId="312"/>
            <ac:spMk id="13" creationId="{00000000-0000-0000-0000-000000000000}"/>
          </ac:spMkLst>
        </pc:spChg>
        <pc:spChg chg="mod">
          <ac:chgData name="Brian Dyer" userId="f4d252ae-ea01-4f62-a905-b25723068793" providerId="ADAL" clId="{98F96EFB-F085-4B98-B565-8796B3A3E128}" dt="2025-04-29T16:50:37.180" v="23" actId="6549"/>
          <ac:spMkLst>
            <pc:docMk/>
            <pc:sldMk cId="0" sldId="312"/>
            <ac:spMk id="1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43C3DF-90A7-4942-B350-BDBE77F37567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E2798-6523-4183-B3F6-002CAFAF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044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BE1B0-A9AF-41A9-89BB-5A40073781B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719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15E60-3424-5CC3-CFF6-523EEB57E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42749-9FAA-3E35-9110-DDB787BC6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D6872-20D0-3106-C53A-AFC8C3998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2CF7E-B84F-837C-0259-0D356EF1F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DB10C-E22B-625D-6BDD-D14DCE8E5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69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80E0B-B2B1-9CF6-7674-7F26612A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842E6-FFE1-C35B-E78B-603FB8CA0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04415-6CC4-7DA3-820B-A2ED43835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B1703-5B68-8F07-ADA6-59092D2A2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9AD46-BA4C-229B-057C-AC104BE5C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05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B3CB9-4AF8-686B-78AF-FC8C08591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D5135-643C-7612-C8C2-DC5331F83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66042-E920-06E3-5B13-39C2BA84D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AE866-7422-744D-E547-1F7D666A5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DDAA6-98CD-BDDF-D9A3-95EA2F674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94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3800F-7416-007B-F823-627B23083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E00A3-B556-5BF5-46BC-C696584CA3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EA638-9726-BE9A-A56E-1610BDE04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9E780-DFBC-5A6F-A2F6-DF651D15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43EF1-937C-6E94-8AE9-2D09955F8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D1336-D110-1C21-8D32-49E5B6AF2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75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FE582-4E07-EFF1-F59D-29335E54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1EA8D-F321-7C67-285A-DBFB11FB5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1F9BC-F981-17D7-B1B6-02EC8DA65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CBB67E-9279-3C59-BF26-5D9576E61E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F017C2-1507-CB90-B439-718F1F4270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075676-3F65-BCFB-D2AF-57DBBA47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11DF1D-33C7-FA28-6953-5BBF63791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3043D5-8769-ED3C-7232-FC3AEFA9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227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4205E-C90D-5746-AC95-698FD9D0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5B601F-EAB4-6E61-AFD1-D85AAAD7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A62C15-BC6C-62D0-E396-996038D13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BD979C-204B-E09D-1232-C08DA83BB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586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AF467D-9F15-48BE-5268-71DD15EC2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D13D72-3584-0263-7240-1180DDE44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6DBB8-A486-313E-CC00-CE981770D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27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4E796-67D4-390F-DDD5-CD4DE9468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1B394-66A0-736D-73BC-733F5459F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D8A2C1-E504-706A-0D4E-D6559FB6B9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45132-D4F2-FCAD-7170-374B9A780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E6270-5DAC-DB6D-B481-BB1D67964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9DA86-3660-200C-AC2C-B8722B03A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1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15527-FFF4-C90C-BEC5-B6E89AFA2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7EED64-C9A5-85DF-7275-2AAF3E19DD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6B788E-702B-BD3C-A471-060E49703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C52E19-9FFD-DB10-2E63-0F18102D8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3A803-B96A-C4D1-C472-A299762CD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02127-18DC-E909-5828-BDF21BDF1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155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E5299-BA04-F9E8-6FB5-5603AA7BD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7CF9D-05AE-47C0-1BDC-61F7A0B3F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4661F-4578-B91D-E902-1363F4BF6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49BDD-E24B-B89C-4EB9-D7D3E7875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D7DD9-4F53-3023-FA9D-626E6582F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00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87AC34-9D89-3DEF-7580-C7EF918A1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67B501-6051-B0CF-52DF-27079BA7D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C69C2-3562-CA1A-3C5E-DF4F7F985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4CE51-AEF0-24AF-485C-2D01FB4F7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A5CD0-8911-8234-D0ED-D9A733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41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C7A2E3-3F48-2D70-9D19-0319F6C13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6B39B-6996-0BB0-3008-99D897E6F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7C364-764C-92C8-E0D9-51A9771853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CDAD30-098A-49B4-906E-BBA6E88BA519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8D552-CABE-3DD4-F3CC-1B2133F21C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294E0-9722-1226-5DF7-7786EC9A51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9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94981" y="456511"/>
            <a:ext cx="3354549" cy="46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 Unions </a:t>
            </a:r>
            <a:r>
              <a:rPr lang="en-US" sz="1200" dirty="0"/>
              <a:t>in the Gaibandha district (75 sectors) selected for study area (9691 women)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94982" y="1074179"/>
            <a:ext cx="3354548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607 women </a:t>
            </a:r>
            <a:r>
              <a:rPr lang="en-US" sz="1200" dirty="0"/>
              <a:t>eligible for WRA trial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1639" y="2348919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71 </a:t>
            </a:r>
            <a:r>
              <a:rPr lang="en-US" sz="1200" dirty="0"/>
              <a:t>NPNL women enrolled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57334" y="233724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71 </a:t>
            </a:r>
            <a:r>
              <a:rPr lang="en-US" sz="1200" dirty="0"/>
              <a:t>NPNL women enrolled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3807" y="234644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75</a:t>
            </a:r>
            <a:r>
              <a:rPr lang="en-US" sz="1200" dirty="0"/>
              <a:t> NPNL women enrolled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84498" y="234521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72</a:t>
            </a:r>
            <a:r>
              <a:rPr lang="en-US" sz="1200" dirty="0"/>
              <a:t> NPNL women enrolled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6323" y="351284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68</a:t>
            </a:r>
            <a:r>
              <a:rPr lang="en-US" sz="1200" dirty="0"/>
              <a:t> started supplementation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0801" y="2728248"/>
            <a:ext cx="1475061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 </a:t>
            </a:r>
            <a:r>
              <a:rPr lang="en-US" sz="1200" dirty="0"/>
              <a:t>Discontinued</a:t>
            </a:r>
          </a:p>
          <a:p>
            <a:r>
              <a:rPr lang="en-US" sz="1200" b="1" dirty="0"/>
              <a:t>1</a:t>
            </a:r>
            <a:r>
              <a:rPr lang="en-US" sz="1200" dirty="0"/>
              <a:t> Never Supplemented</a:t>
            </a:r>
            <a:endParaRPr lang="en-US" sz="12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9471450" y="2710512"/>
            <a:ext cx="1534540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1 </a:t>
            </a:r>
            <a:r>
              <a:rPr lang="en-US" sz="1200" dirty="0"/>
              <a:t>Discontinued</a:t>
            </a:r>
          </a:p>
          <a:p>
            <a:r>
              <a:rPr lang="en-US" sz="1200" b="1" dirty="0"/>
              <a:t>0 </a:t>
            </a:r>
            <a:r>
              <a:rPr lang="en-US" sz="1200" dirty="0"/>
              <a:t>Supplementation visit pending</a:t>
            </a:r>
            <a:endParaRPr lang="en-US" sz="12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2118946" y="2715969"/>
            <a:ext cx="1548179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6</a:t>
            </a:r>
            <a:r>
              <a:rPr lang="en-US" sz="1200" dirty="0"/>
              <a:t> Discontinued</a:t>
            </a:r>
          </a:p>
          <a:p>
            <a:r>
              <a:rPr lang="en-US" sz="1200" b="1" dirty="0"/>
              <a:t>2</a:t>
            </a:r>
            <a:r>
              <a:rPr lang="en-US" sz="1200" dirty="0"/>
              <a:t> Never Supplemented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9639" y="2721321"/>
            <a:ext cx="1520548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4</a:t>
            </a:r>
            <a:r>
              <a:rPr lang="en-US" sz="1200" dirty="0"/>
              <a:t> Discontinued</a:t>
            </a:r>
          </a:p>
          <a:p>
            <a:r>
              <a:rPr lang="en-US" sz="1200" b="1" dirty="0"/>
              <a:t>1</a:t>
            </a:r>
            <a:r>
              <a:rPr lang="en-US" sz="1200" dirty="0"/>
              <a:t> Never Supplemented</a:t>
            </a:r>
          </a:p>
        </p:txBody>
      </p:sp>
      <p:cxnSp>
        <p:nvCxnSpPr>
          <p:cNvPr id="15" name="Straight Arrow Connector 14"/>
          <p:cNvCxnSpPr>
            <a:stCxn id="6" idx="2"/>
            <a:endCxn id="10" idx="0"/>
          </p:cNvCxnSpPr>
          <p:nvPr/>
        </p:nvCxnSpPr>
        <p:spPr>
          <a:xfrm flipH="1">
            <a:off x="4400658" y="2625919"/>
            <a:ext cx="5316" cy="88692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7" idx="2"/>
            <a:endCxn id="28" idx="0"/>
          </p:cNvCxnSpPr>
          <p:nvPr/>
        </p:nvCxnSpPr>
        <p:spPr>
          <a:xfrm flipH="1">
            <a:off x="9276352" y="2614238"/>
            <a:ext cx="5317" cy="87826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8" idx="2"/>
            <a:endCxn id="29" idx="0"/>
          </p:cNvCxnSpPr>
          <p:nvPr/>
        </p:nvCxnSpPr>
        <p:spPr>
          <a:xfrm flipH="1">
            <a:off x="1922826" y="2623444"/>
            <a:ext cx="5316" cy="874522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cxnSpLocks/>
            <a:stCxn id="9" idx="2"/>
            <a:endCxn id="30" idx="0"/>
          </p:cNvCxnSpPr>
          <p:nvPr/>
        </p:nvCxnSpPr>
        <p:spPr>
          <a:xfrm>
            <a:off x="6808833" y="2622216"/>
            <a:ext cx="2652" cy="881297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398049" y="3095637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9282786" y="3081124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1922826" y="3093163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6803517" y="3091935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3918628" y="1504420"/>
            <a:ext cx="3307255" cy="485537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289  </a:t>
            </a:r>
            <a:r>
              <a:rPr lang="en-US" sz="1200" dirty="0">
                <a:solidFill>
                  <a:schemeClr val="tx1"/>
                </a:solidFill>
              </a:rPr>
              <a:t>NPNL women consented and randomized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-108487" y="2105198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A</a:t>
            </a:r>
            <a:endParaRPr lang="en-US" sz="1200" dirty="0"/>
          </a:p>
        </p:txBody>
      </p:sp>
      <p:sp>
        <p:nvSpPr>
          <p:cNvPr id="25" name="TextBox 24"/>
          <p:cNvSpPr txBox="1"/>
          <p:nvPr/>
        </p:nvSpPr>
        <p:spPr>
          <a:xfrm>
            <a:off x="2651042" y="2080676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B</a:t>
            </a:r>
            <a:endParaRPr lang="en-US" sz="1200" dirty="0"/>
          </a:p>
        </p:txBody>
      </p:sp>
      <p:sp>
        <p:nvSpPr>
          <p:cNvPr id="26" name="TextBox 25"/>
          <p:cNvSpPr txBox="1"/>
          <p:nvPr/>
        </p:nvSpPr>
        <p:spPr>
          <a:xfrm>
            <a:off x="5857828" y="2097729"/>
            <a:ext cx="2177732" cy="274648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C</a:t>
            </a:r>
            <a:endParaRPr lang="en-US" sz="1200" dirty="0"/>
          </a:p>
        </p:txBody>
      </p:sp>
      <p:sp>
        <p:nvSpPr>
          <p:cNvPr id="27" name="TextBox 26"/>
          <p:cNvSpPr txBox="1"/>
          <p:nvPr/>
        </p:nvSpPr>
        <p:spPr>
          <a:xfrm>
            <a:off x="8426038" y="2095378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D </a:t>
            </a:r>
            <a:endParaRPr lang="en-US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8152017" y="349250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70</a:t>
            </a:r>
            <a:r>
              <a:rPr lang="en-US" sz="1200" dirty="0"/>
              <a:t> started supplementation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8491" y="349796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67 </a:t>
            </a:r>
            <a:r>
              <a:rPr lang="en-US" sz="1200" dirty="0"/>
              <a:t>started supplementation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87150" y="350351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67</a:t>
            </a:r>
            <a:r>
              <a:rPr lang="en-US" sz="1200" dirty="0"/>
              <a:t> started supplementation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08085" y="3922791"/>
            <a:ext cx="1753981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0 </a:t>
            </a:r>
            <a:r>
              <a:rPr lang="en-US" sz="1200" dirty="0"/>
              <a:t>Under follow-up</a:t>
            </a:r>
            <a:endParaRPr lang="en-US" sz="1200" b="1" dirty="0"/>
          </a:p>
          <a:p>
            <a:r>
              <a:rPr lang="en-US" sz="1200" b="1" dirty="0"/>
              <a:t>3 </a:t>
            </a:r>
            <a:r>
              <a:rPr lang="en-US" sz="1200" dirty="0"/>
              <a:t>Became pregnant</a:t>
            </a:r>
          </a:p>
          <a:p>
            <a:r>
              <a:rPr lang="en-US" sz="1200" b="1" dirty="0"/>
              <a:t>1 </a:t>
            </a:r>
            <a:r>
              <a:rPr lang="en-US" sz="1200" dirty="0"/>
              <a:t>Permanently moved</a:t>
            </a:r>
            <a:endParaRPr lang="en-US" sz="1200" b="1" dirty="0"/>
          </a:p>
          <a:p>
            <a:r>
              <a:rPr lang="en-US" sz="1200" b="1" dirty="0"/>
              <a:t>1 </a:t>
            </a:r>
            <a:r>
              <a:rPr lang="en-US" sz="1200" dirty="0"/>
              <a:t>Refused midline visit</a:t>
            </a:r>
          </a:p>
          <a:p>
            <a:r>
              <a:rPr lang="en-US" sz="1200" b="1" dirty="0"/>
              <a:t>0</a:t>
            </a:r>
            <a:r>
              <a:rPr lang="en-US" sz="1200" dirty="0"/>
              <a:t> Not met after 2 weeks</a:t>
            </a:r>
            <a:endParaRPr lang="en-US" sz="1200" b="1" dirty="0"/>
          </a:p>
        </p:txBody>
      </p:sp>
      <p:cxnSp>
        <p:nvCxnSpPr>
          <p:cNvPr id="35" name="Straight Arrow Connector 34"/>
          <p:cNvCxnSpPr>
            <a:cxnSpLocks/>
            <a:stCxn id="10" idx="2"/>
            <a:endCxn id="43" idx="0"/>
          </p:cNvCxnSpPr>
          <p:nvPr/>
        </p:nvCxnSpPr>
        <p:spPr>
          <a:xfrm flipH="1">
            <a:off x="4393923" y="3789843"/>
            <a:ext cx="6735" cy="119871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/>
            <a:stCxn id="28" idx="2"/>
            <a:endCxn id="44" idx="0"/>
          </p:cNvCxnSpPr>
          <p:nvPr/>
        </p:nvCxnSpPr>
        <p:spPr>
          <a:xfrm flipH="1">
            <a:off x="9269617" y="3769506"/>
            <a:ext cx="6735" cy="119871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cxnSpLocks/>
            <a:stCxn id="29" idx="2"/>
            <a:endCxn id="45" idx="0"/>
          </p:cNvCxnSpPr>
          <p:nvPr/>
        </p:nvCxnSpPr>
        <p:spPr>
          <a:xfrm flipH="1">
            <a:off x="1916091" y="3774965"/>
            <a:ext cx="6735" cy="119871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cxnSpLocks/>
            <a:stCxn id="30" idx="2"/>
            <a:endCxn id="46" idx="0"/>
          </p:cNvCxnSpPr>
          <p:nvPr/>
        </p:nvCxnSpPr>
        <p:spPr>
          <a:xfrm flipH="1">
            <a:off x="6805747" y="3780513"/>
            <a:ext cx="5738" cy="120710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4391314" y="4386141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9276051" y="4371628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1916091" y="4383667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cxnSpLocks/>
          </p:cNvCxnSpPr>
          <p:nvPr/>
        </p:nvCxnSpPr>
        <p:spPr>
          <a:xfrm>
            <a:off x="6810159" y="4382438"/>
            <a:ext cx="182640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269588" y="498855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63</a:t>
            </a:r>
            <a:r>
              <a:rPr lang="en-US" sz="1200" dirty="0"/>
              <a:t> mid-line visits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45282" y="4968216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69</a:t>
            </a:r>
            <a:r>
              <a:rPr lang="en-US" sz="1200" dirty="0"/>
              <a:t> mid-line visits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1756" y="497367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62 </a:t>
            </a:r>
            <a:r>
              <a:rPr lang="en-US" sz="1200" dirty="0"/>
              <a:t>mid-line visits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81412" y="4987621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62</a:t>
            </a:r>
            <a:r>
              <a:rPr lang="en-US" sz="1200" dirty="0"/>
              <a:t> mid-line visits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79636" y="645908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62</a:t>
            </a:r>
            <a:r>
              <a:rPr lang="en-US" sz="1200" dirty="0"/>
              <a:t> endline visits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45043" y="643687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66</a:t>
            </a:r>
            <a:r>
              <a:rPr lang="en-US" sz="1200" dirty="0"/>
              <a:t> endline visits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3051" y="644233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/>
              <a:t>58 </a:t>
            </a:r>
            <a:r>
              <a:rPr lang="en-US" sz="1200" dirty="0"/>
              <a:t>endline visits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3742" y="6456281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57</a:t>
            </a:r>
            <a:r>
              <a:rPr lang="en-US" sz="1200" dirty="0"/>
              <a:t> endline visits</a:t>
            </a:r>
          </a:p>
        </p:txBody>
      </p:sp>
      <p:cxnSp>
        <p:nvCxnSpPr>
          <p:cNvPr id="51" name="Straight Connector 50"/>
          <p:cNvCxnSpPr>
            <a:stCxn id="4" idx="2"/>
            <a:endCxn id="5" idx="0"/>
          </p:cNvCxnSpPr>
          <p:nvPr/>
        </p:nvCxnSpPr>
        <p:spPr>
          <a:xfrm>
            <a:off x="5572256" y="918176"/>
            <a:ext cx="0" cy="15600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5" idx="2"/>
          </p:cNvCxnSpPr>
          <p:nvPr/>
        </p:nvCxnSpPr>
        <p:spPr>
          <a:xfrm flipH="1">
            <a:off x="5572255" y="1351179"/>
            <a:ext cx="1" cy="15324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23" idx="3"/>
          </p:cNvCxnSpPr>
          <p:nvPr/>
        </p:nvCxnSpPr>
        <p:spPr>
          <a:xfrm flipH="1">
            <a:off x="1925782" y="1918853"/>
            <a:ext cx="2477182" cy="4298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H="1">
            <a:off x="4757527" y="1977276"/>
            <a:ext cx="490008" cy="3801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5984848" y="1978807"/>
            <a:ext cx="434613" cy="36865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23" idx="5"/>
          </p:cNvCxnSpPr>
          <p:nvPr/>
        </p:nvCxnSpPr>
        <p:spPr>
          <a:xfrm>
            <a:off x="6741546" y="1918853"/>
            <a:ext cx="2331663" cy="41426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1431600" y="2085150"/>
            <a:ext cx="829564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TOTAL</a:t>
            </a:r>
            <a:endParaRPr lang="en-US" sz="1200" dirty="0"/>
          </a:p>
        </p:txBody>
      </p:sp>
      <p:sp>
        <p:nvSpPr>
          <p:cNvPr id="58" name="TextBox 57"/>
          <p:cNvSpPr txBox="1"/>
          <p:nvPr/>
        </p:nvSpPr>
        <p:spPr>
          <a:xfrm>
            <a:off x="11631566" y="2332070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289</a:t>
            </a:r>
            <a:endParaRPr lang="en-US" sz="1200" dirty="0"/>
          </a:p>
        </p:txBody>
      </p:sp>
      <p:sp>
        <p:nvSpPr>
          <p:cNvPr id="59" name="TextBox 58"/>
          <p:cNvSpPr txBox="1"/>
          <p:nvPr/>
        </p:nvSpPr>
        <p:spPr>
          <a:xfrm>
            <a:off x="11643445" y="3505870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272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643445" y="4951888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256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637348" y="6465847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/>
              <a:t>243</a:t>
            </a:r>
            <a:endParaRPr lang="en-US" sz="1200" dirty="0"/>
          </a:p>
        </p:txBody>
      </p:sp>
      <p:sp>
        <p:nvSpPr>
          <p:cNvPr id="62" name="Title 1"/>
          <p:cNvSpPr txBox="1"/>
          <p:nvPr/>
        </p:nvSpPr>
        <p:spPr bwMode="auto">
          <a:xfrm>
            <a:off x="408373" y="368782"/>
            <a:ext cx="2060910" cy="107044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r>
              <a:rPr lang="en-GB" sz="3200" b="0" kern="0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WRA Trial Consort</a:t>
            </a:r>
            <a:endParaRPr lang="en-US" sz="3200" kern="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98887A8-59F6-D053-1D12-EF99F0EA80E9}"/>
              </a:ext>
            </a:extLst>
          </p:cNvPr>
          <p:cNvSpPr txBox="1"/>
          <p:nvPr/>
        </p:nvSpPr>
        <p:spPr>
          <a:xfrm>
            <a:off x="9486388" y="3897101"/>
            <a:ext cx="1753981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0 </a:t>
            </a:r>
            <a:r>
              <a:rPr lang="en-US" sz="1200" dirty="0"/>
              <a:t>Under follow-up</a:t>
            </a:r>
            <a:endParaRPr lang="en-US" sz="1200" b="1" dirty="0"/>
          </a:p>
          <a:p>
            <a:r>
              <a:rPr lang="en-US" sz="1200" b="1" dirty="0"/>
              <a:t>1 </a:t>
            </a:r>
            <a:r>
              <a:rPr lang="en-US" sz="1200" dirty="0"/>
              <a:t>Became pregnant</a:t>
            </a:r>
          </a:p>
          <a:p>
            <a:r>
              <a:rPr lang="en-US" sz="1200" b="1" dirty="0"/>
              <a:t>0 </a:t>
            </a:r>
            <a:r>
              <a:rPr lang="en-US" sz="1200" dirty="0"/>
              <a:t>Permanently moved</a:t>
            </a:r>
            <a:endParaRPr lang="en-US" sz="1200" b="1" dirty="0"/>
          </a:p>
          <a:p>
            <a:r>
              <a:rPr lang="en-US" sz="1200" b="1" dirty="0"/>
              <a:t>0 </a:t>
            </a:r>
            <a:r>
              <a:rPr lang="en-US" sz="1200" dirty="0"/>
              <a:t>Refused midline visit</a:t>
            </a:r>
          </a:p>
          <a:p>
            <a:r>
              <a:rPr lang="en-US" sz="1200" b="1" dirty="0"/>
              <a:t>0 </a:t>
            </a:r>
            <a:r>
              <a:rPr lang="en-US" sz="1200" dirty="0"/>
              <a:t>Not met after 2 weeks</a:t>
            </a:r>
            <a:endParaRPr lang="en-US" sz="1200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8128B8C-7740-16F5-89A2-85D01F44FE15}"/>
              </a:ext>
            </a:extLst>
          </p:cNvPr>
          <p:cNvSpPr txBox="1"/>
          <p:nvPr/>
        </p:nvSpPr>
        <p:spPr>
          <a:xfrm>
            <a:off x="2109693" y="3905553"/>
            <a:ext cx="1753981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0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3 </a:t>
            </a:r>
            <a:r>
              <a:rPr lang="en-US" sz="1200" dirty="0"/>
              <a:t>Became pregnant</a:t>
            </a:r>
          </a:p>
          <a:p>
            <a:r>
              <a:rPr lang="en-US" sz="1200" b="1" dirty="0"/>
              <a:t>0 </a:t>
            </a:r>
            <a:r>
              <a:rPr lang="en-US" sz="1200" dirty="0"/>
              <a:t>Permanently moved</a:t>
            </a:r>
            <a:endParaRPr lang="en-US" sz="1200" b="1" dirty="0"/>
          </a:p>
          <a:p>
            <a:r>
              <a:rPr lang="en-US" sz="1200" b="1" dirty="0"/>
              <a:t>1 </a:t>
            </a:r>
            <a:r>
              <a:rPr lang="en-US" sz="1200" dirty="0"/>
              <a:t>Refused midline visit</a:t>
            </a:r>
          </a:p>
          <a:p>
            <a:r>
              <a:rPr lang="en-US" sz="1200" b="1" dirty="0"/>
              <a:t>1 </a:t>
            </a:r>
            <a:r>
              <a:rPr lang="en-US" sz="1200" dirty="0"/>
              <a:t>Not met after 2 weeks</a:t>
            </a:r>
            <a:endParaRPr lang="en-US" sz="12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6531022-5B6F-7A5E-9363-D8A88B94E1B9}"/>
              </a:ext>
            </a:extLst>
          </p:cNvPr>
          <p:cNvSpPr txBox="1"/>
          <p:nvPr/>
        </p:nvSpPr>
        <p:spPr>
          <a:xfrm>
            <a:off x="6971829" y="3900619"/>
            <a:ext cx="1753981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0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3 </a:t>
            </a:r>
            <a:r>
              <a:rPr lang="en-US" sz="1200" dirty="0"/>
              <a:t>Became pregnant</a:t>
            </a:r>
          </a:p>
          <a:p>
            <a:r>
              <a:rPr lang="en-US" sz="1200" b="1" dirty="0"/>
              <a:t>1 </a:t>
            </a:r>
            <a:r>
              <a:rPr lang="en-US" sz="1200" dirty="0"/>
              <a:t>Permanently moved</a:t>
            </a:r>
          </a:p>
          <a:p>
            <a:r>
              <a:rPr lang="en-US" sz="1200" b="1" dirty="0"/>
              <a:t>0 </a:t>
            </a:r>
            <a:r>
              <a:rPr lang="en-US" sz="1200" dirty="0"/>
              <a:t>Refused midline visit</a:t>
            </a:r>
          </a:p>
          <a:p>
            <a:r>
              <a:rPr lang="en-US" sz="1200" b="1" dirty="0"/>
              <a:t>1 </a:t>
            </a:r>
            <a:r>
              <a:rPr lang="en-US" sz="1200" dirty="0"/>
              <a:t>Not met after 2 weeks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E1CA827-5FF4-EC18-560D-7138905D957E}"/>
              </a:ext>
            </a:extLst>
          </p:cNvPr>
          <p:cNvSpPr txBox="1"/>
          <p:nvPr/>
        </p:nvSpPr>
        <p:spPr>
          <a:xfrm>
            <a:off x="4612635" y="5354912"/>
            <a:ext cx="1753981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0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1</a:t>
            </a:r>
            <a:r>
              <a:rPr lang="en-US" sz="1200" dirty="0"/>
              <a:t> Discontinued</a:t>
            </a:r>
          </a:p>
          <a:p>
            <a:r>
              <a:rPr lang="en-US" sz="1200" b="1" dirty="0"/>
              <a:t>0 </a:t>
            </a:r>
            <a:r>
              <a:rPr lang="en-US" sz="1200" dirty="0"/>
              <a:t>Became pregnant</a:t>
            </a:r>
          </a:p>
          <a:p>
            <a:r>
              <a:rPr lang="en-US" sz="1200" b="1" dirty="0"/>
              <a:t>0 </a:t>
            </a:r>
            <a:r>
              <a:rPr lang="en-US" sz="1200" dirty="0"/>
              <a:t>Refused endline visit</a:t>
            </a:r>
          </a:p>
          <a:p>
            <a:r>
              <a:rPr lang="en-US" sz="1200" b="1" dirty="0"/>
              <a:t>0</a:t>
            </a:r>
            <a:r>
              <a:rPr lang="en-US" sz="1200" dirty="0"/>
              <a:t> Permanently moved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0466100-91AF-6179-1454-E5874B6E4C3F}"/>
              </a:ext>
            </a:extLst>
          </p:cNvPr>
          <p:cNvCxnSpPr>
            <a:cxnSpLocks/>
            <a:stCxn id="43" idx="2"/>
            <a:endCxn id="47" idx="0"/>
          </p:cNvCxnSpPr>
          <p:nvPr/>
        </p:nvCxnSpPr>
        <p:spPr>
          <a:xfrm>
            <a:off x="4393922" y="5265553"/>
            <a:ext cx="10048" cy="119352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EDA4F7C-0AE2-FA3E-E75F-89988AFFA2CB}"/>
              </a:ext>
            </a:extLst>
          </p:cNvPr>
          <p:cNvCxnSpPr>
            <a:cxnSpLocks/>
            <a:stCxn id="44" idx="2"/>
          </p:cNvCxnSpPr>
          <p:nvPr/>
        </p:nvCxnSpPr>
        <p:spPr>
          <a:xfrm flipH="1">
            <a:off x="9269378" y="5245215"/>
            <a:ext cx="238" cy="121706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F88C644-3114-A8F3-0C20-5E5F94C82CD4}"/>
              </a:ext>
            </a:extLst>
          </p:cNvPr>
          <p:cNvCxnSpPr>
            <a:cxnSpLocks/>
            <a:endCxn id="49" idx="0"/>
          </p:cNvCxnSpPr>
          <p:nvPr/>
        </p:nvCxnSpPr>
        <p:spPr>
          <a:xfrm flipH="1">
            <a:off x="1907386" y="5262600"/>
            <a:ext cx="1830" cy="117973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AD9EDAE-39B5-BAC7-3995-FF41AFB578E0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6788077" y="5261370"/>
            <a:ext cx="1830" cy="119491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740D86A-7530-CEE2-0C97-9B754389017D}"/>
              </a:ext>
            </a:extLst>
          </p:cNvPr>
          <p:cNvCxnSpPr/>
          <p:nvPr/>
        </p:nvCxnSpPr>
        <p:spPr>
          <a:xfrm>
            <a:off x="4404783" y="5839144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DE99CC2-EC7A-8D80-B7F8-5395C3696092}"/>
              </a:ext>
            </a:extLst>
          </p:cNvPr>
          <p:cNvCxnSpPr/>
          <p:nvPr/>
        </p:nvCxnSpPr>
        <p:spPr>
          <a:xfrm>
            <a:off x="9274933" y="5825877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F40AD88-DE62-CB13-BCDF-CCBED7E65C47}"/>
              </a:ext>
            </a:extLst>
          </p:cNvPr>
          <p:cNvCxnSpPr/>
          <p:nvPr/>
        </p:nvCxnSpPr>
        <p:spPr>
          <a:xfrm>
            <a:off x="1936163" y="5834943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C2AE89CF-0D66-C5A5-E3A5-419F27D7A60A}"/>
              </a:ext>
            </a:extLst>
          </p:cNvPr>
          <p:cNvCxnSpPr/>
          <p:nvPr/>
        </p:nvCxnSpPr>
        <p:spPr>
          <a:xfrm>
            <a:off x="6805619" y="5840491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929D8972-B388-EAE4-E06A-035AE1312F67}"/>
              </a:ext>
            </a:extLst>
          </p:cNvPr>
          <p:cNvSpPr txBox="1"/>
          <p:nvPr/>
        </p:nvSpPr>
        <p:spPr>
          <a:xfrm>
            <a:off x="9474197" y="5346358"/>
            <a:ext cx="1753981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0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2</a:t>
            </a:r>
            <a:r>
              <a:rPr lang="en-US" sz="1200" dirty="0"/>
              <a:t> Discontinued</a:t>
            </a:r>
          </a:p>
          <a:p>
            <a:r>
              <a:rPr lang="en-US" sz="1200" b="1" dirty="0"/>
              <a:t>0 </a:t>
            </a:r>
            <a:r>
              <a:rPr lang="en-US" sz="1200" dirty="0"/>
              <a:t>Became pregnant</a:t>
            </a:r>
          </a:p>
          <a:p>
            <a:r>
              <a:rPr lang="en-US" sz="1200" b="1" dirty="0"/>
              <a:t>0 </a:t>
            </a:r>
            <a:r>
              <a:rPr lang="en-US" sz="1200" dirty="0"/>
              <a:t>Refused endline visit</a:t>
            </a:r>
          </a:p>
          <a:p>
            <a:r>
              <a:rPr lang="en-US" sz="1200" b="1" dirty="0"/>
              <a:t>1</a:t>
            </a:r>
            <a:r>
              <a:rPr lang="en-US" sz="1200" dirty="0"/>
              <a:t> Permanently moved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4C2FC7E-CF82-CC8A-8149-F4E0FFBB317F}"/>
              </a:ext>
            </a:extLst>
          </p:cNvPr>
          <p:cNvSpPr txBox="1"/>
          <p:nvPr/>
        </p:nvSpPr>
        <p:spPr>
          <a:xfrm>
            <a:off x="2132183" y="5348704"/>
            <a:ext cx="1753981" cy="83099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1</a:t>
            </a:r>
            <a:r>
              <a:rPr lang="en-US" sz="1200" dirty="0"/>
              <a:t> Discontinued</a:t>
            </a:r>
          </a:p>
          <a:p>
            <a:r>
              <a:rPr lang="en-US" sz="1200" b="1" dirty="0"/>
              <a:t>3 </a:t>
            </a:r>
            <a:r>
              <a:rPr lang="en-US" sz="1200" dirty="0"/>
              <a:t>Became pregnant</a:t>
            </a:r>
          </a:p>
          <a:p>
            <a:r>
              <a:rPr lang="en-US" sz="1200" b="1" dirty="0"/>
              <a:t>0 </a:t>
            </a:r>
            <a:r>
              <a:rPr lang="en-US" sz="1200" dirty="0"/>
              <a:t>Refused endline visit</a:t>
            </a:r>
          </a:p>
          <a:p>
            <a:r>
              <a:rPr lang="en-US" sz="1200" b="1" dirty="0"/>
              <a:t>0</a:t>
            </a:r>
            <a:r>
              <a:rPr lang="en-US" sz="1200" dirty="0"/>
              <a:t> Permanently moved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6A9238F-8536-5291-4A09-8B5A0AFCFC56}"/>
              </a:ext>
            </a:extLst>
          </p:cNvPr>
          <p:cNvSpPr txBox="1"/>
          <p:nvPr/>
        </p:nvSpPr>
        <p:spPr>
          <a:xfrm>
            <a:off x="6987342" y="5332660"/>
            <a:ext cx="1753981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0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1</a:t>
            </a:r>
            <a:r>
              <a:rPr lang="en-US" sz="1200" dirty="0"/>
              <a:t> Discontinued</a:t>
            </a:r>
          </a:p>
          <a:p>
            <a:r>
              <a:rPr lang="en-US" sz="1200" b="1" dirty="0"/>
              <a:t>1 </a:t>
            </a:r>
            <a:r>
              <a:rPr lang="en-US" sz="1200" dirty="0"/>
              <a:t>Became pregnant</a:t>
            </a:r>
          </a:p>
          <a:p>
            <a:r>
              <a:rPr lang="en-US" sz="1200" b="1" dirty="0"/>
              <a:t>2 </a:t>
            </a:r>
            <a:r>
              <a:rPr lang="en-US" sz="1200" dirty="0"/>
              <a:t>Refused endline visit</a:t>
            </a:r>
          </a:p>
          <a:p>
            <a:r>
              <a:rPr lang="en-US" sz="1200" b="1" dirty="0"/>
              <a:t>1</a:t>
            </a:r>
            <a:r>
              <a:rPr lang="en-US" sz="1200" dirty="0"/>
              <a:t> Permanently moved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7784</TotalTime>
  <Words>253</Words>
  <Application>Microsoft Office PowerPoint</Application>
  <PresentationFormat>Widescreen</PresentationFormat>
  <Paragraphs>77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Tahoma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Eleonor Zavala</dc:creator>
  <cp:lastModifiedBy>Brian Dyer</cp:lastModifiedBy>
  <cp:revision>17</cp:revision>
  <dcterms:created xsi:type="dcterms:W3CDTF">2024-04-26T15:51:54Z</dcterms:created>
  <dcterms:modified xsi:type="dcterms:W3CDTF">2025-06-11T21:10:41Z</dcterms:modified>
</cp:coreProperties>
</file>