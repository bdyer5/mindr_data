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32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D60567-DE06-45CD-848D-6200693328B4}"/>
              </a:ext>
            </a:extLst>
          </p:cNvPr>
          <p:cNvGrpSpPr/>
          <p:nvPr/>
        </p:nvGrpSpPr>
        <p:grpSpPr>
          <a:xfrm>
            <a:off x="-108487" y="368782"/>
            <a:ext cx="12369651" cy="6374064"/>
            <a:chOff x="-108487" y="368782"/>
            <a:chExt cx="12369651" cy="6374066"/>
          </a:xfrm>
        </p:grpSpPr>
        <p:sp>
          <p:nvSpPr>
            <p:cNvPr id="4" name="TextBox 3"/>
            <p:cNvSpPr txBox="1"/>
            <p:nvPr/>
          </p:nvSpPr>
          <p:spPr>
            <a:xfrm>
              <a:off x="3894981" y="456511"/>
              <a:ext cx="3354549" cy="461665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 Unions </a:t>
              </a:r>
              <a:r>
                <a:rPr lang="en-US" sz="1200" dirty="0"/>
                <a:t>in the Gaibandha district (75 sectors) selected for study area (9691 women)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94982" y="1074179"/>
              <a:ext cx="3354548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607 women </a:t>
              </a:r>
              <a:r>
                <a:rPr lang="en-US" sz="1200" dirty="0"/>
                <a:t>eligible for WRA trial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9099" y="2352276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71 </a:t>
              </a:r>
              <a:r>
                <a:rPr lang="en-US" sz="1200" dirty="0"/>
                <a:t>NPNL women enrolled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59489" y="2351855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71 </a:t>
              </a:r>
              <a:r>
                <a:rPr lang="en-US" sz="1200" dirty="0"/>
                <a:t>NPNL women enrolled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22806" y="235199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75</a:t>
              </a:r>
              <a:r>
                <a:rPr lang="en-US" sz="1200" dirty="0"/>
                <a:t> NPNL women enrolled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674442" y="2345218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72</a:t>
              </a:r>
              <a:r>
                <a:rPr lang="en-US" sz="1200" dirty="0"/>
                <a:t> NPNL women enrolled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3783" y="3516201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67</a:t>
              </a:r>
              <a:r>
                <a:rPr lang="en-US" sz="1200" dirty="0"/>
                <a:t> started supplementation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08261" y="2731605"/>
              <a:ext cx="1475061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3 </a:t>
              </a:r>
              <a:r>
                <a:rPr lang="en-US" sz="1200" dirty="0"/>
                <a:t>Discontinued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Supplementation visit pending</a:t>
              </a:r>
              <a:endParaRPr lang="en-US" sz="12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73605" y="2725127"/>
              <a:ext cx="1534540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 </a:t>
              </a:r>
              <a:r>
                <a:rPr lang="en-US" sz="1200" dirty="0"/>
                <a:t>Discontinued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Supplementation visit pending</a:t>
              </a:r>
              <a:endParaRPr lang="en-US" sz="1200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37945" y="2721518"/>
              <a:ext cx="1548179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6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2</a:t>
              </a:r>
              <a:r>
                <a:rPr lang="en-US" sz="1200" dirty="0"/>
                <a:t> Supplementation visit pending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989583" y="2721322"/>
              <a:ext cx="1520548" cy="64633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4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Supplementation visit pending</a:t>
              </a:r>
            </a:p>
          </p:txBody>
        </p:sp>
        <p:cxnSp>
          <p:nvCxnSpPr>
            <p:cNvPr id="15" name="Straight Arrow Connector 14"/>
            <p:cNvCxnSpPr>
              <a:stCxn id="6" idx="2"/>
              <a:endCxn id="10" idx="0"/>
            </p:cNvCxnSpPr>
            <p:nvPr/>
          </p:nvCxnSpPr>
          <p:spPr>
            <a:xfrm flipH="1">
              <a:off x="1208118" y="2629276"/>
              <a:ext cx="5316" cy="88692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2"/>
              <a:endCxn id="28" idx="0"/>
            </p:cNvCxnSpPr>
            <p:nvPr/>
          </p:nvCxnSpPr>
          <p:spPr>
            <a:xfrm flipH="1">
              <a:off x="4078507" y="2628853"/>
              <a:ext cx="5317" cy="87826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2"/>
              <a:endCxn id="29" idx="0"/>
            </p:cNvCxnSpPr>
            <p:nvPr/>
          </p:nvCxnSpPr>
          <p:spPr>
            <a:xfrm flipH="1">
              <a:off x="6941825" y="2628993"/>
              <a:ext cx="5316" cy="87452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/>
              <a:stCxn id="9" idx="2"/>
              <a:endCxn id="30" idx="0"/>
            </p:cNvCxnSpPr>
            <p:nvPr/>
          </p:nvCxnSpPr>
          <p:spPr>
            <a:xfrm>
              <a:off x="9798777" y="2622217"/>
              <a:ext cx="2652" cy="88129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1205509" y="3098994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4084941" y="3095739"/>
              <a:ext cx="189584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941825" y="3098712"/>
              <a:ext cx="19601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9793461" y="3091936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3918628" y="1504420"/>
              <a:ext cx="3307255" cy="4855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289  </a:t>
              </a:r>
              <a:r>
                <a:rPr lang="en-US" sz="1200" dirty="0">
                  <a:solidFill>
                    <a:schemeClr val="tx1"/>
                  </a:solidFill>
                </a:rPr>
                <a:t>NPNL women consented and randomized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-108487" y="2105199"/>
              <a:ext cx="2834640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W</a:t>
              </a:r>
              <a:endParaRPr lang="en-US" sz="12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51042" y="2080677"/>
              <a:ext cx="2834640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X</a:t>
              </a:r>
              <a:endParaRPr lang="en-US" sz="12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7828" y="2097730"/>
              <a:ext cx="2177732" cy="2746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Y</a:t>
              </a:r>
              <a:endParaRPr lang="en-US" sz="12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26038" y="2095379"/>
              <a:ext cx="2834640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ARM Z </a:t>
              </a:r>
              <a:endParaRPr lang="en-US" sz="12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954172" y="3507122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70</a:t>
              </a:r>
              <a:r>
                <a:rPr lang="en-US" sz="1200" dirty="0"/>
                <a:t> started supplementation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17490" y="350351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67 </a:t>
              </a:r>
              <a:r>
                <a:rPr lang="en-US" sz="1200" dirty="0"/>
                <a:t>started supplementation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677094" y="350351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67</a:t>
              </a:r>
              <a:r>
                <a:rPr lang="en-US" sz="1200" dirty="0"/>
                <a:t> started supplementation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15545" y="3926148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  <a:endParaRPr lang="en-US" sz="1200" b="1" dirty="0"/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Permanently moved</a:t>
              </a:r>
              <a:endParaRPr lang="en-US" sz="1200" b="1" dirty="0"/>
            </a:p>
            <a:p>
              <a:r>
                <a:rPr lang="en-US" sz="1200" b="1" dirty="0"/>
                <a:t>1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Not met after 2 weeks</a:t>
              </a:r>
              <a:endParaRPr lang="en-US" sz="1200" b="1" dirty="0"/>
            </a:p>
          </p:txBody>
        </p:sp>
        <p:cxnSp>
          <p:nvCxnSpPr>
            <p:cNvPr id="35" name="Straight Arrow Connector 34"/>
            <p:cNvCxnSpPr>
              <a:cxnSpLocks/>
              <a:stCxn id="10" idx="2"/>
              <a:endCxn id="43" idx="0"/>
            </p:cNvCxnSpPr>
            <p:nvPr/>
          </p:nvCxnSpPr>
          <p:spPr>
            <a:xfrm flipH="1">
              <a:off x="1201383" y="3793200"/>
              <a:ext cx="6735" cy="11987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cxnSpLocks/>
              <a:stCxn id="28" idx="2"/>
              <a:endCxn id="44" idx="0"/>
            </p:cNvCxnSpPr>
            <p:nvPr/>
          </p:nvCxnSpPr>
          <p:spPr>
            <a:xfrm flipH="1">
              <a:off x="4071772" y="3784121"/>
              <a:ext cx="6735" cy="11987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/>
              <a:stCxn id="29" idx="2"/>
              <a:endCxn id="45" idx="0"/>
            </p:cNvCxnSpPr>
            <p:nvPr/>
          </p:nvCxnSpPr>
          <p:spPr>
            <a:xfrm flipH="1">
              <a:off x="6935090" y="3780514"/>
              <a:ext cx="6735" cy="11987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cxnSpLocks/>
              <a:stCxn id="30" idx="2"/>
              <a:endCxn id="46" idx="0"/>
            </p:cNvCxnSpPr>
            <p:nvPr/>
          </p:nvCxnSpPr>
          <p:spPr>
            <a:xfrm flipH="1">
              <a:off x="9795691" y="3780514"/>
              <a:ext cx="5738" cy="120710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1198774" y="4389498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078206" y="4386243"/>
              <a:ext cx="189584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>
              <a:off x="6935090" y="4389216"/>
              <a:ext cx="19601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cxnSpLocks/>
            </p:cNvCxnSpPr>
            <p:nvPr/>
          </p:nvCxnSpPr>
          <p:spPr>
            <a:xfrm>
              <a:off x="9800103" y="4382439"/>
              <a:ext cx="182640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77048" y="4991910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</a:t>
              </a:r>
              <a:r>
                <a:rPr lang="en-US" sz="1200" dirty="0"/>
                <a:t> mid-line visits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47437" y="4982831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69</a:t>
              </a:r>
              <a:r>
                <a:rPr lang="en-US" sz="1200" dirty="0"/>
                <a:t> mid-line visits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10755" y="4979224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 </a:t>
              </a:r>
              <a:r>
                <a:rPr lang="en-US" sz="1200" dirty="0"/>
                <a:t>mid-line visits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671356" y="4987622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</a:t>
              </a:r>
              <a:r>
                <a:rPr lang="en-US" sz="1200" dirty="0"/>
                <a:t> mid-line visits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096" y="6462438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62</a:t>
              </a:r>
              <a:r>
                <a:rPr lang="en-US" sz="1200" dirty="0"/>
                <a:t> endline visits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947198" y="6451493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66</a:t>
              </a:r>
              <a:r>
                <a:rPr lang="en-US" sz="1200" dirty="0"/>
                <a:t> endline visits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02050" y="6447885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54 </a:t>
              </a:r>
              <a:r>
                <a:rPr lang="en-US" sz="1200" dirty="0"/>
                <a:t>endline visits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653686" y="6456283"/>
              <a:ext cx="2248669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57</a:t>
              </a:r>
              <a:r>
                <a:rPr lang="en-US" sz="1200" dirty="0"/>
                <a:t> endline visits</a:t>
              </a:r>
            </a:p>
          </p:txBody>
        </p:sp>
        <p:cxnSp>
          <p:nvCxnSpPr>
            <p:cNvPr id="51" name="Straight Connector 50"/>
            <p:cNvCxnSpPr>
              <a:stCxn id="4" idx="2"/>
              <a:endCxn id="5" idx="0"/>
            </p:cNvCxnSpPr>
            <p:nvPr/>
          </p:nvCxnSpPr>
          <p:spPr>
            <a:xfrm>
              <a:off x="5572256" y="918176"/>
              <a:ext cx="0" cy="1560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" idx="2"/>
            </p:cNvCxnSpPr>
            <p:nvPr/>
          </p:nvCxnSpPr>
          <p:spPr>
            <a:xfrm flipH="1">
              <a:off x="5572255" y="1351179"/>
              <a:ext cx="1" cy="15324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23" idx="3"/>
            </p:cNvCxnSpPr>
            <p:nvPr/>
          </p:nvCxnSpPr>
          <p:spPr>
            <a:xfrm flipH="1">
              <a:off x="1925782" y="1918853"/>
              <a:ext cx="2477182" cy="42983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4757527" y="1977277"/>
              <a:ext cx="490008" cy="38013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984848" y="1978808"/>
              <a:ext cx="434613" cy="3686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23" idx="5"/>
            </p:cNvCxnSpPr>
            <p:nvPr/>
          </p:nvCxnSpPr>
          <p:spPr>
            <a:xfrm>
              <a:off x="6741546" y="1918853"/>
              <a:ext cx="2331663" cy="41426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11431600" y="2085151"/>
              <a:ext cx="829564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TOTAL</a:t>
              </a:r>
              <a:endParaRPr lang="en-US" sz="12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631566" y="2332071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289</a:t>
              </a:r>
              <a:endParaRPr lang="en-US" sz="12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643445" y="3505871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271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1643445" y="4951889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255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1637348" y="6465849"/>
              <a:ext cx="457200" cy="27699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239</a:t>
              </a:r>
              <a:endParaRPr lang="en-US" sz="1200" dirty="0"/>
            </a:p>
          </p:txBody>
        </p:sp>
        <p:sp>
          <p:nvSpPr>
            <p:cNvPr id="62" name="Title 1"/>
            <p:cNvSpPr txBox="1"/>
            <p:nvPr/>
          </p:nvSpPr>
          <p:spPr bwMode="auto">
            <a:xfrm>
              <a:off x="408373" y="368782"/>
              <a:ext cx="2060910" cy="10704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rgbClr val="8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defRPr>
              </a:lvl9pPr>
            </a:lstStyle>
            <a:p>
              <a:r>
                <a:rPr lang="en-GB" sz="3200" b="0" kern="0" dirty="0">
                  <a:solidFill>
                    <a:schemeClr val="accent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WRA Trial Consort</a:t>
              </a:r>
              <a:endParaRPr lang="en-US" sz="3200" kern="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98887A8-59F6-D053-1D12-EF99F0EA80E9}"/>
                </a:ext>
              </a:extLst>
            </p:cNvPr>
            <p:cNvSpPr txBox="1"/>
            <p:nvPr/>
          </p:nvSpPr>
          <p:spPr>
            <a:xfrm>
              <a:off x="4288543" y="3911716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  <a:endParaRPr lang="en-US" sz="1200" b="1" dirty="0"/>
            </a:p>
            <a:p>
              <a:r>
                <a:rPr lang="en-US" sz="1200" b="1" dirty="0"/>
                <a:t>1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Permanently moved</a:t>
              </a:r>
              <a:endParaRPr lang="en-US" sz="1200" b="1" dirty="0"/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Not met after 2 weeks</a:t>
              </a:r>
              <a:endParaRPr lang="en-US" sz="12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128B8C-7740-16F5-89A2-85D01F44FE15}"/>
                </a:ext>
              </a:extLst>
            </p:cNvPr>
            <p:cNvSpPr txBox="1"/>
            <p:nvPr/>
          </p:nvSpPr>
          <p:spPr>
            <a:xfrm>
              <a:off x="7128692" y="3911102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Permanently moved</a:t>
              </a:r>
              <a:endParaRPr lang="en-US" sz="1200" b="1" dirty="0"/>
            </a:p>
            <a:p>
              <a:r>
                <a:rPr lang="en-US" sz="1200" b="1" dirty="0"/>
                <a:t>1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Not met after 2 weeks</a:t>
              </a:r>
              <a:endParaRPr 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6531022-5B6F-7A5E-9363-D8A88B94E1B9}"/>
                </a:ext>
              </a:extLst>
            </p:cNvPr>
            <p:cNvSpPr txBox="1"/>
            <p:nvPr/>
          </p:nvSpPr>
          <p:spPr>
            <a:xfrm>
              <a:off x="9961773" y="3900620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Permanently moved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midline visit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Not met after 2 weeks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E1CA827-5FF4-EC18-560D-7138905D957E}"/>
                </a:ext>
              </a:extLst>
            </p:cNvPr>
            <p:cNvSpPr txBox="1"/>
            <p:nvPr/>
          </p:nvSpPr>
          <p:spPr>
            <a:xfrm>
              <a:off x="1420095" y="5358270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Permanently moved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0466100-91AF-6179-1454-E5874B6E4C3F}"/>
                </a:ext>
              </a:extLst>
            </p:cNvPr>
            <p:cNvCxnSpPr>
              <a:cxnSpLocks/>
              <a:stCxn id="43" idx="2"/>
              <a:endCxn id="47" idx="0"/>
            </p:cNvCxnSpPr>
            <p:nvPr/>
          </p:nvCxnSpPr>
          <p:spPr>
            <a:xfrm>
              <a:off x="1201382" y="5268911"/>
              <a:ext cx="10048" cy="119352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EDA4F7C-0AE2-FA3E-E75F-89988AFFA2CB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 flipH="1">
              <a:off x="4071533" y="5259831"/>
              <a:ext cx="238" cy="121706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F88C644-3114-A8F3-0C20-5E5F94C82CD4}"/>
                </a:ext>
              </a:extLst>
            </p:cNvPr>
            <p:cNvCxnSpPr>
              <a:cxnSpLocks/>
              <a:endCxn id="49" idx="0"/>
            </p:cNvCxnSpPr>
            <p:nvPr/>
          </p:nvCxnSpPr>
          <p:spPr>
            <a:xfrm flipH="1">
              <a:off x="6926385" y="5268150"/>
              <a:ext cx="1830" cy="117973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AD9EDAE-39B5-BAC7-3995-FF41AFB578E0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 flipH="1">
              <a:off x="9778021" y="5261372"/>
              <a:ext cx="1830" cy="119491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2740D86A-7530-CEE2-0C97-9B754389017D}"/>
                </a:ext>
              </a:extLst>
            </p:cNvPr>
            <p:cNvCxnSpPr/>
            <p:nvPr/>
          </p:nvCxnSpPr>
          <p:spPr>
            <a:xfrm>
              <a:off x="1212243" y="5842502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DE99CC2-EC7A-8D80-B7F8-5395C3696092}"/>
                </a:ext>
              </a:extLst>
            </p:cNvPr>
            <p:cNvCxnSpPr/>
            <p:nvPr/>
          </p:nvCxnSpPr>
          <p:spPr>
            <a:xfrm>
              <a:off x="4077088" y="5840493"/>
              <a:ext cx="189584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F40AD88-DE62-CB13-BCDF-CCBED7E65C47}"/>
                </a:ext>
              </a:extLst>
            </p:cNvPr>
            <p:cNvCxnSpPr/>
            <p:nvPr/>
          </p:nvCxnSpPr>
          <p:spPr>
            <a:xfrm>
              <a:off x="6955162" y="5840493"/>
              <a:ext cx="19601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C2AE89CF-0D66-C5A5-E3A5-419F27D7A60A}"/>
                </a:ext>
              </a:extLst>
            </p:cNvPr>
            <p:cNvCxnSpPr/>
            <p:nvPr/>
          </p:nvCxnSpPr>
          <p:spPr>
            <a:xfrm>
              <a:off x="9795563" y="5840493"/>
              <a:ext cx="19601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29D8972-B388-EAE4-E06A-035AE1312F67}"/>
                </a:ext>
              </a:extLst>
            </p:cNvPr>
            <p:cNvSpPr txBox="1"/>
            <p:nvPr/>
          </p:nvSpPr>
          <p:spPr>
            <a:xfrm>
              <a:off x="4276352" y="5360974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2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Permanently moved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4C2FC7E-CF82-CC8A-8149-F4E0FFBB317F}"/>
                </a:ext>
              </a:extLst>
            </p:cNvPr>
            <p:cNvSpPr txBox="1"/>
            <p:nvPr/>
          </p:nvSpPr>
          <p:spPr>
            <a:xfrm>
              <a:off x="7151182" y="5354254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4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3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0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0</a:t>
              </a:r>
              <a:r>
                <a:rPr lang="en-US" sz="1200" dirty="0"/>
                <a:t> Permanently moved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6A9238F-8536-5291-4A09-8B5A0AFCFC56}"/>
                </a:ext>
              </a:extLst>
            </p:cNvPr>
            <p:cNvSpPr txBox="1"/>
            <p:nvPr/>
          </p:nvSpPr>
          <p:spPr>
            <a:xfrm>
              <a:off x="9977286" y="5332662"/>
              <a:ext cx="1753981" cy="101566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0 </a:t>
              </a:r>
              <a:r>
                <a:rPr lang="en-US" sz="1200" dirty="0"/>
                <a:t>Under follow-up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Discontinued</a:t>
              </a:r>
            </a:p>
            <a:p>
              <a:r>
                <a:rPr lang="en-US" sz="1200" b="1" dirty="0"/>
                <a:t>1 </a:t>
              </a:r>
              <a:r>
                <a:rPr lang="en-US" sz="1200" dirty="0"/>
                <a:t>Became pregnant</a:t>
              </a:r>
            </a:p>
            <a:p>
              <a:r>
                <a:rPr lang="en-US" sz="1200" b="1" dirty="0"/>
                <a:t>2 </a:t>
              </a:r>
              <a:r>
                <a:rPr lang="en-US" sz="1200" dirty="0"/>
                <a:t>Refused endline visit</a:t>
              </a:r>
            </a:p>
            <a:p>
              <a:r>
                <a:rPr lang="en-US" sz="1200" b="1" dirty="0"/>
                <a:t>1</a:t>
              </a:r>
              <a:r>
                <a:rPr lang="en-US" sz="1200" dirty="0"/>
                <a:t> Permanently moved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6193</TotalTime>
  <Words>259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14</cp:revision>
  <dcterms:created xsi:type="dcterms:W3CDTF">2024-04-26T15:51:54Z</dcterms:created>
  <dcterms:modified xsi:type="dcterms:W3CDTF">2024-12-17T20:55:47Z</dcterms:modified>
</cp:coreProperties>
</file>