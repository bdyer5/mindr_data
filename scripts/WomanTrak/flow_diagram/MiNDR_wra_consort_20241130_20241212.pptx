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Dyer" userId="f4d252ae-ea01-4f62-a905-b25723068793" providerId="ADAL" clId="{6B380E94-3F7A-4E53-BC86-C337119B80B7}"/>
    <pc:docChg chg="undo custSel modSld">
      <pc:chgData name="Brian Dyer" userId="f4d252ae-ea01-4f62-a905-b25723068793" providerId="ADAL" clId="{6B380E94-3F7A-4E53-BC86-C337119B80B7}" dt="2024-12-14T00:28:33.722" v="42" actId="14100"/>
      <pc:docMkLst>
        <pc:docMk/>
      </pc:docMkLst>
      <pc:sldChg chg="addSp delSp modSp mod">
        <pc:chgData name="Brian Dyer" userId="f4d252ae-ea01-4f62-a905-b25723068793" providerId="ADAL" clId="{6B380E94-3F7A-4E53-BC86-C337119B80B7}" dt="2024-12-14T00:28:33.722" v="42" actId="14100"/>
        <pc:sldMkLst>
          <pc:docMk/>
          <pc:sldMk cId="0" sldId="312"/>
        </pc:sldMkLst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4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5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6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7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8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9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10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11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12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13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14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23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24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25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26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27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28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29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30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31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43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44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45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46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47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48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49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50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57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58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59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60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61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62" creationId="{00000000-0000-0000-0000-000000000000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63" creationId="{998887A8-59F6-D053-1D12-EF99F0EA80E9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64" creationId="{38128B8C-7740-16F5-89A2-85D01F44FE15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65" creationId="{86531022-5B6F-7A5E-9363-D8A88B94E1B9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66" creationId="{AE1CA827-5FF4-EC18-560D-7138905D957E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75" creationId="{929D8972-B388-EAE4-E06A-035AE1312F67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76" creationId="{A4C2FC7E-CF82-CC8A-8149-F4E0FFBB317F}"/>
          </ac:spMkLst>
        </pc:spChg>
        <pc:spChg chg="mod topLvl">
          <ac:chgData name="Brian Dyer" userId="f4d252ae-ea01-4f62-a905-b25723068793" providerId="ADAL" clId="{6B380E94-3F7A-4E53-BC86-C337119B80B7}" dt="2024-12-14T00:28:32.921" v="41" actId="165"/>
          <ac:spMkLst>
            <pc:docMk/>
            <pc:sldMk cId="0" sldId="312"/>
            <ac:spMk id="77" creationId="{E6A9238F-8536-5291-4A09-8B5A0AFCFC56}"/>
          </ac:spMkLst>
        </pc:spChg>
        <pc:grpChg chg="add del mod">
          <ac:chgData name="Brian Dyer" userId="f4d252ae-ea01-4f62-a905-b25723068793" providerId="ADAL" clId="{6B380E94-3F7A-4E53-BC86-C337119B80B7}" dt="2024-12-14T00:28:33.722" v="42" actId="14100"/>
          <ac:grpSpMkLst>
            <pc:docMk/>
            <pc:sldMk cId="0" sldId="312"/>
            <ac:grpSpMk id="2" creationId="{0ED60567-DE06-45CD-848D-6200693328B4}"/>
          </ac:grpSpMkLst>
        </pc:grp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15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16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17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18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19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20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21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22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35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36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37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38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39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40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41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42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51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52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53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54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55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56" creationId="{00000000-0000-0000-0000-00000000000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67" creationId="{30466100-91AF-6179-1454-E5874B6E4C3F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68" creationId="{2EDA4F7C-0AE2-FA3E-E75F-89988AFFA2CB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69" creationId="{5F88C644-3114-A8F3-0C20-5E5F94C82CD4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70" creationId="{0AD9EDAE-39B5-BAC7-3995-FF41AFB578E0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71" creationId="{2740D86A-7530-CEE2-0C97-9B754389017D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72" creationId="{7DE99CC2-EC7A-8D80-B7F8-5395C3696092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73" creationId="{2F40AD88-DE62-CB13-BCDF-CCBED7E65C47}"/>
          </ac:cxnSpMkLst>
        </pc:cxnChg>
        <pc:cxnChg chg="mod topLvl">
          <ac:chgData name="Brian Dyer" userId="f4d252ae-ea01-4f62-a905-b25723068793" providerId="ADAL" clId="{6B380E94-3F7A-4E53-BC86-C337119B80B7}" dt="2024-12-14T00:28:32.921" v="41" actId="165"/>
          <ac:cxnSpMkLst>
            <pc:docMk/>
            <pc:sldMk cId="0" sldId="312"/>
            <ac:cxnSpMk id="74" creationId="{C2AE89CF-0D66-C5A5-E3A5-419F27D7A60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BE1B0-A9AF-41A9-89BB-5A40073781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1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ED60567-DE06-45CD-848D-6200693328B4}"/>
              </a:ext>
            </a:extLst>
          </p:cNvPr>
          <p:cNvGrpSpPr/>
          <p:nvPr/>
        </p:nvGrpSpPr>
        <p:grpSpPr>
          <a:xfrm>
            <a:off x="-108487" y="368782"/>
            <a:ext cx="12369651" cy="6374064"/>
            <a:chOff x="-108487" y="368782"/>
            <a:chExt cx="12369651" cy="6374066"/>
          </a:xfrm>
        </p:grpSpPr>
        <p:sp>
          <p:nvSpPr>
            <p:cNvPr id="4" name="TextBox 3"/>
            <p:cNvSpPr txBox="1"/>
            <p:nvPr/>
          </p:nvSpPr>
          <p:spPr>
            <a:xfrm>
              <a:off x="3894981" y="456511"/>
              <a:ext cx="3354549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2 Unions </a:t>
              </a:r>
              <a:r>
                <a:rPr lang="en-US" sz="1200" dirty="0"/>
                <a:t>in the Gaibandha district (75 sectors) selected for study area (9691 women)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894982" y="1074179"/>
              <a:ext cx="3354548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607 women </a:t>
              </a:r>
              <a:r>
                <a:rPr lang="en-US" sz="1200" dirty="0"/>
                <a:t>eligible for WRA trial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9099" y="2352276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71 </a:t>
              </a:r>
              <a:r>
                <a:rPr lang="en-US" sz="1200" dirty="0"/>
                <a:t>NPNL women enrolled 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959489" y="2351855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71 </a:t>
              </a:r>
              <a:r>
                <a:rPr lang="en-US" sz="1200" dirty="0"/>
                <a:t>NPNL women enrolled 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822806" y="2351994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75</a:t>
              </a:r>
              <a:r>
                <a:rPr lang="en-US" sz="1200" dirty="0"/>
                <a:t> NPNL women enrolled 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674442" y="2345218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72</a:t>
              </a:r>
              <a:r>
                <a:rPr lang="en-US" sz="1200" dirty="0"/>
                <a:t> NPNL women enrolled 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3783" y="3516201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67</a:t>
              </a:r>
              <a:r>
                <a:rPr lang="en-US" sz="1200" dirty="0"/>
                <a:t> started supplementation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08261" y="2731605"/>
              <a:ext cx="1475061" cy="64633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3 </a:t>
              </a:r>
              <a:r>
                <a:rPr lang="en-US" sz="1200" dirty="0"/>
                <a:t>Discontinued</a:t>
              </a:r>
            </a:p>
            <a:p>
              <a:r>
                <a:rPr lang="en-US" sz="1200" b="1" dirty="0"/>
                <a:t>1 </a:t>
              </a:r>
              <a:r>
                <a:rPr lang="en-US" sz="1200" dirty="0"/>
                <a:t>Supplementation visit pending</a:t>
              </a:r>
              <a:endParaRPr lang="en-US" sz="1200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73605" y="2725127"/>
              <a:ext cx="1534540" cy="64633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1 </a:t>
              </a:r>
              <a:r>
                <a:rPr lang="en-US" sz="1200" dirty="0"/>
                <a:t>Discontinued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Supplementation visit pending</a:t>
              </a:r>
              <a:endParaRPr lang="en-US" sz="1200" b="1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137945" y="2721518"/>
              <a:ext cx="1548179" cy="64633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6</a:t>
              </a:r>
              <a:r>
                <a:rPr lang="en-US" sz="1200" dirty="0"/>
                <a:t> Discontinued</a:t>
              </a:r>
            </a:p>
            <a:p>
              <a:r>
                <a:rPr lang="en-US" sz="1200" b="1" dirty="0"/>
                <a:t>2</a:t>
              </a:r>
              <a:r>
                <a:rPr lang="en-US" sz="1200" dirty="0"/>
                <a:t> Supplementation visit pending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989583" y="2721322"/>
              <a:ext cx="1520548" cy="64633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4</a:t>
              </a:r>
              <a:r>
                <a:rPr lang="en-US" sz="1200" dirty="0"/>
                <a:t> Discontinued</a:t>
              </a:r>
            </a:p>
            <a:p>
              <a:r>
                <a:rPr lang="en-US" sz="1200" b="1" dirty="0"/>
                <a:t>1</a:t>
              </a:r>
              <a:r>
                <a:rPr lang="en-US" sz="1200" dirty="0"/>
                <a:t> Supplementation visit pending</a:t>
              </a:r>
            </a:p>
          </p:txBody>
        </p:sp>
        <p:cxnSp>
          <p:nvCxnSpPr>
            <p:cNvPr id="15" name="Straight Arrow Connector 14"/>
            <p:cNvCxnSpPr>
              <a:stCxn id="6" idx="2"/>
              <a:endCxn id="10" idx="0"/>
            </p:cNvCxnSpPr>
            <p:nvPr/>
          </p:nvCxnSpPr>
          <p:spPr>
            <a:xfrm flipH="1">
              <a:off x="1208118" y="2629276"/>
              <a:ext cx="5316" cy="886925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7" idx="2"/>
              <a:endCxn id="28" idx="0"/>
            </p:cNvCxnSpPr>
            <p:nvPr/>
          </p:nvCxnSpPr>
          <p:spPr>
            <a:xfrm flipH="1">
              <a:off x="4078507" y="2628853"/>
              <a:ext cx="5317" cy="87826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8" idx="2"/>
              <a:endCxn id="29" idx="0"/>
            </p:cNvCxnSpPr>
            <p:nvPr/>
          </p:nvCxnSpPr>
          <p:spPr>
            <a:xfrm flipH="1">
              <a:off x="6941825" y="2628993"/>
              <a:ext cx="5316" cy="87452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/>
              <a:stCxn id="9" idx="2"/>
              <a:endCxn id="30" idx="0"/>
            </p:cNvCxnSpPr>
            <p:nvPr/>
          </p:nvCxnSpPr>
          <p:spPr>
            <a:xfrm>
              <a:off x="9798777" y="2622217"/>
              <a:ext cx="2652" cy="88129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1205509" y="3098994"/>
              <a:ext cx="196017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4084941" y="3095739"/>
              <a:ext cx="189584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6941825" y="3098712"/>
              <a:ext cx="196018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9793461" y="3091936"/>
              <a:ext cx="196017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/>
            <p:cNvSpPr/>
            <p:nvPr/>
          </p:nvSpPr>
          <p:spPr>
            <a:xfrm>
              <a:off x="3918628" y="1504420"/>
              <a:ext cx="3307255" cy="485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289  </a:t>
              </a:r>
              <a:r>
                <a:rPr lang="en-US" sz="1200" dirty="0">
                  <a:solidFill>
                    <a:schemeClr val="tx1"/>
                  </a:solidFill>
                </a:rPr>
                <a:t>NPNL women consented and randomized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-108487" y="2105199"/>
              <a:ext cx="2834640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ARM W</a:t>
              </a:r>
              <a:endParaRPr lang="en-US" sz="12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651042" y="2080677"/>
              <a:ext cx="2834640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ARM X</a:t>
              </a:r>
              <a:endParaRPr lang="en-US" sz="12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857828" y="2097730"/>
              <a:ext cx="2177732" cy="2746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ARM Y</a:t>
              </a:r>
              <a:endParaRPr lang="en-US" sz="12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426038" y="2095379"/>
              <a:ext cx="2834640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ARM Z </a:t>
              </a:r>
              <a:endParaRPr lang="en-US" sz="12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954172" y="3507122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70</a:t>
              </a:r>
              <a:r>
                <a:rPr lang="en-US" sz="1200" dirty="0"/>
                <a:t> started supplementation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817490" y="3503514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67 </a:t>
              </a:r>
              <a:r>
                <a:rPr lang="en-US" sz="1200" dirty="0"/>
                <a:t>started supplementation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677094" y="3503514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67</a:t>
              </a:r>
              <a:r>
                <a:rPr lang="en-US" sz="1200" dirty="0"/>
                <a:t> started supplementation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415545" y="3926148"/>
              <a:ext cx="1753981" cy="101566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0 </a:t>
              </a:r>
              <a:r>
                <a:rPr lang="en-US" sz="1200" dirty="0"/>
                <a:t>Under follow-up</a:t>
              </a:r>
              <a:endParaRPr lang="en-US" sz="1200" b="1" dirty="0"/>
            </a:p>
            <a:p>
              <a:r>
                <a:rPr lang="en-US" sz="1200" b="1" dirty="0"/>
                <a:t>3 </a:t>
              </a:r>
              <a:r>
                <a:rPr lang="en-US" sz="1200" dirty="0"/>
                <a:t>Became pregnant</a:t>
              </a:r>
            </a:p>
            <a:p>
              <a:r>
                <a:rPr lang="en-US" sz="1200" b="1" dirty="0"/>
                <a:t>1 </a:t>
              </a:r>
              <a:r>
                <a:rPr lang="en-US" sz="1200" dirty="0"/>
                <a:t>Permanently moved</a:t>
              </a:r>
              <a:endParaRPr lang="en-US" sz="1200" b="1" dirty="0"/>
            </a:p>
            <a:p>
              <a:r>
                <a:rPr lang="en-US" sz="1200" b="1" dirty="0"/>
                <a:t>1 </a:t>
              </a:r>
              <a:r>
                <a:rPr lang="en-US" sz="1200" dirty="0"/>
                <a:t>Refused midline visit</a:t>
              </a:r>
            </a:p>
            <a:p>
              <a:r>
                <a:rPr lang="en-US" sz="1200" b="1" dirty="0"/>
                <a:t>0</a:t>
              </a:r>
              <a:r>
                <a:rPr lang="en-US" sz="1200" dirty="0"/>
                <a:t> Not met after 2 weeks</a:t>
              </a:r>
              <a:endParaRPr lang="en-US" sz="1200" b="1" dirty="0"/>
            </a:p>
          </p:txBody>
        </p:sp>
        <p:cxnSp>
          <p:nvCxnSpPr>
            <p:cNvPr id="35" name="Straight Arrow Connector 34"/>
            <p:cNvCxnSpPr>
              <a:cxnSpLocks/>
              <a:stCxn id="10" idx="2"/>
              <a:endCxn id="43" idx="0"/>
            </p:cNvCxnSpPr>
            <p:nvPr/>
          </p:nvCxnSpPr>
          <p:spPr>
            <a:xfrm flipH="1">
              <a:off x="1201383" y="3793200"/>
              <a:ext cx="6735" cy="119871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cxnSpLocks/>
              <a:stCxn id="28" idx="2"/>
              <a:endCxn id="44" idx="0"/>
            </p:cNvCxnSpPr>
            <p:nvPr/>
          </p:nvCxnSpPr>
          <p:spPr>
            <a:xfrm flipH="1">
              <a:off x="4071772" y="3784121"/>
              <a:ext cx="6735" cy="119871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cxnSpLocks/>
              <a:stCxn id="29" idx="2"/>
              <a:endCxn id="45" idx="0"/>
            </p:cNvCxnSpPr>
            <p:nvPr/>
          </p:nvCxnSpPr>
          <p:spPr>
            <a:xfrm flipH="1">
              <a:off x="6935090" y="3780514"/>
              <a:ext cx="6735" cy="119871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cxnSpLocks/>
              <a:stCxn id="30" idx="2"/>
              <a:endCxn id="46" idx="0"/>
            </p:cNvCxnSpPr>
            <p:nvPr/>
          </p:nvCxnSpPr>
          <p:spPr>
            <a:xfrm flipH="1">
              <a:off x="9795691" y="3780514"/>
              <a:ext cx="5738" cy="120710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1198774" y="4389498"/>
              <a:ext cx="196017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4078206" y="4386243"/>
              <a:ext cx="189584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>
              <a:off x="6935090" y="4389216"/>
              <a:ext cx="196018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cxnSpLocks/>
            </p:cNvCxnSpPr>
            <p:nvPr/>
          </p:nvCxnSpPr>
          <p:spPr>
            <a:xfrm>
              <a:off x="9800103" y="4382439"/>
              <a:ext cx="182640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77048" y="4991910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62</a:t>
              </a:r>
              <a:r>
                <a:rPr lang="en-US" sz="1200" dirty="0"/>
                <a:t> mid-line visits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947437" y="4982831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69</a:t>
              </a:r>
              <a:r>
                <a:rPr lang="en-US" sz="1200" dirty="0"/>
                <a:t> mid-line visits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810755" y="4979224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62 </a:t>
              </a:r>
              <a:r>
                <a:rPr lang="en-US" sz="1200" dirty="0"/>
                <a:t>mid-line visits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671356" y="4987622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62</a:t>
              </a:r>
              <a:r>
                <a:rPr lang="en-US" sz="1200" dirty="0"/>
                <a:t> mid-line visits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7096" y="6462438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62</a:t>
              </a:r>
              <a:r>
                <a:rPr lang="en-US" sz="1200" dirty="0"/>
                <a:t> endline visits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947198" y="6451493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66</a:t>
              </a:r>
              <a:r>
                <a:rPr lang="en-US" sz="1200" dirty="0"/>
                <a:t> endline visits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802050" y="6447885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54 </a:t>
              </a:r>
              <a:r>
                <a:rPr lang="en-US" sz="1200" dirty="0"/>
                <a:t>endline visits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653686" y="6456283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57</a:t>
              </a:r>
              <a:r>
                <a:rPr lang="en-US" sz="1200" dirty="0"/>
                <a:t> endline visits</a:t>
              </a:r>
            </a:p>
          </p:txBody>
        </p:sp>
        <p:cxnSp>
          <p:nvCxnSpPr>
            <p:cNvPr id="51" name="Straight Connector 50"/>
            <p:cNvCxnSpPr>
              <a:stCxn id="4" idx="2"/>
              <a:endCxn id="5" idx="0"/>
            </p:cNvCxnSpPr>
            <p:nvPr/>
          </p:nvCxnSpPr>
          <p:spPr>
            <a:xfrm>
              <a:off x="5572256" y="918176"/>
              <a:ext cx="0" cy="1560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5" idx="2"/>
            </p:cNvCxnSpPr>
            <p:nvPr/>
          </p:nvCxnSpPr>
          <p:spPr>
            <a:xfrm flipH="1">
              <a:off x="5572255" y="1351179"/>
              <a:ext cx="1" cy="15324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23" idx="3"/>
            </p:cNvCxnSpPr>
            <p:nvPr/>
          </p:nvCxnSpPr>
          <p:spPr>
            <a:xfrm flipH="1">
              <a:off x="1925782" y="1918853"/>
              <a:ext cx="2477182" cy="42983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4757527" y="1977277"/>
              <a:ext cx="490008" cy="38013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5984848" y="1978808"/>
              <a:ext cx="434613" cy="36865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23" idx="5"/>
            </p:cNvCxnSpPr>
            <p:nvPr/>
          </p:nvCxnSpPr>
          <p:spPr>
            <a:xfrm>
              <a:off x="6741546" y="1918853"/>
              <a:ext cx="2331663" cy="41426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11431600" y="2085151"/>
              <a:ext cx="829564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TOTAL</a:t>
              </a:r>
              <a:endParaRPr lang="en-US" sz="1200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1631566" y="2332071"/>
              <a:ext cx="457200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289</a:t>
              </a:r>
              <a:endParaRPr lang="en-US" sz="1200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1643445" y="3505871"/>
              <a:ext cx="457200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271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1643445" y="4951889"/>
              <a:ext cx="457200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255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1637348" y="6465849"/>
              <a:ext cx="457200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239</a:t>
              </a:r>
              <a:endParaRPr lang="en-US" sz="1200" dirty="0"/>
            </a:p>
          </p:txBody>
        </p:sp>
        <p:sp>
          <p:nvSpPr>
            <p:cNvPr id="62" name="Title 1"/>
            <p:cNvSpPr txBox="1"/>
            <p:nvPr/>
          </p:nvSpPr>
          <p:spPr bwMode="auto">
            <a:xfrm>
              <a:off x="408373" y="368782"/>
              <a:ext cx="2060910" cy="107044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91440" tIns="45720" rIns="91440" bIns="45720" numCol="1" anchor="ctr" anchorCtr="0" compatLnSpc="1"/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8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8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8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8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8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8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8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8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8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defRPr>
              </a:lvl9pPr>
            </a:lstStyle>
            <a:p>
              <a:r>
                <a:rPr lang="en-GB" sz="3200" b="0" kern="0" dirty="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WRA Trial Consort</a:t>
              </a:r>
              <a:endParaRPr lang="en-US" sz="3200" kern="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98887A8-59F6-D053-1D12-EF99F0EA80E9}"/>
                </a:ext>
              </a:extLst>
            </p:cNvPr>
            <p:cNvSpPr txBox="1"/>
            <p:nvPr/>
          </p:nvSpPr>
          <p:spPr>
            <a:xfrm>
              <a:off x="4288543" y="3911716"/>
              <a:ext cx="1753981" cy="101566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0 </a:t>
              </a:r>
              <a:r>
                <a:rPr lang="en-US" sz="1200" dirty="0"/>
                <a:t>Under follow-up</a:t>
              </a:r>
              <a:endParaRPr lang="en-US" sz="1200" b="1" dirty="0"/>
            </a:p>
            <a:p>
              <a:r>
                <a:rPr lang="en-US" sz="1200" b="1" dirty="0"/>
                <a:t>1 </a:t>
              </a:r>
              <a:r>
                <a:rPr lang="en-US" sz="1200" dirty="0"/>
                <a:t>Became pregnant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Permanently moved</a:t>
              </a:r>
              <a:endParaRPr lang="en-US" sz="1200" b="1" dirty="0"/>
            </a:p>
            <a:p>
              <a:r>
                <a:rPr lang="en-US" sz="1200" b="1" dirty="0"/>
                <a:t>0 </a:t>
              </a:r>
              <a:r>
                <a:rPr lang="en-US" sz="1200" dirty="0"/>
                <a:t>Refused midline visit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Not met after 2 weeks</a:t>
              </a:r>
              <a:endParaRPr lang="en-US" sz="1200" b="1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128B8C-7740-16F5-89A2-85D01F44FE15}"/>
                </a:ext>
              </a:extLst>
            </p:cNvPr>
            <p:cNvSpPr txBox="1"/>
            <p:nvPr/>
          </p:nvSpPr>
          <p:spPr>
            <a:xfrm>
              <a:off x="7128692" y="3911102"/>
              <a:ext cx="1753981" cy="101566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0 </a:t>
              </a:r>
              <a:r>
                <a:rPr lang="en-US" sz="1200" dirty="0"/>
                <a:t>Under follow-up</a:t>
              </a:r>
            </a:p>
            <a:p>
              <a:r>
                <a:rPr lang="en-US" sz="1200" b="1" dirty="0"/>
                <a:t>3 </a:t>
              </a:r>
              <a:r>
                <a:rPr lang="en-US" sz="1200" dirty="0"/>
                <a:t>Became pregnant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Permanently moved</a:t>
              </a:r>
              <a:endParaRPr lang="en-US" sz="1200" b="1" dirty="0"/>
            </a:p>
            <a:p>
              <a:r>
                <a:rPr lang="en-US" sz="1200" b="1" dirty="0"/>
                <a:t>1 </a:t>
              </a:r>
              <a:r>
                <a:rPr lang="en-US" sz="1200" dirty="0"/>
                <a:t>Refused midline visit</a:t>
              </a:r>
            </a:p>
            <a:p>
              <a:r>
                <a:rPr lang="en-US" sz="1200" b="1" dirty="0"/>
                <a:t>1 </a:t>
              </a:r>
              <a:r>
                <a:rPr lang="en-US" sz="1200" dirty="0"/>
                <a:t>Not met after 2 weeks</a:t>
              </a:r>
              <a:endParaRPr lang="en-US" sz="1200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6531022-5B6F-7A5E-9363-D8A88B94E1B9}"/>
                </a:ext>
              </a:extLst>
            </p:cNvPr>
            <p:cNvSpPr txBox="1"/>
            <p:nvPr/>
          </p:nvSpPr>
          <p:spPr>
            <a:xfrm>
              <a:off x="9961773" y="3900620"/>
              <a:ext cx="1753981" cy="101566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0 </a:t>
              </a:r>
              <a:r>
                <a:rPr lang="en-US" sz="1200" dirty="0"/>
                <a:t>Under follow-up</a:t>
              </a:r>
            </a:p>
            <a:p>
              <a:r>
                <a:rPr lang="en-US" sz="1200" b="1" dirty="0"/>
                <a:t>3 </a:t>
              </a:r>
              <a:r>
                <a:rPr lang="en-US" sz="1200" dirty="0"/>
                <a:t>Became pregnant</a:t>
              </a:r>
            </a:p>
            <a:p>
              <a:r>
                <a:rPr lang="en-US" sz="1200" b="1" dirty="0"/>
                <a:t>1 </a:t>
              </a:r>
              <a:r>
                <a:rPr lang="en-US" sz="1200" dirty="0"/>
                <a:t>Permanently moved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Refused midline visit</a:t>
              </a:r>
            </a:p>
            <a:p>
              <a:r>
                <a:rPr lang="en-US" sz="1200" b="1" dirty="0"/>
                <a:t>1 </a:t>
              </a:r>
              <a:r>
                <a:rPr lang="en-US" sz="1200" dirty="0"/>
                <a:t>Not met after 2 weeks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E1CA827-5FF4-EC18-560D-7138905D957E}"/>
                </a:ext>
              </a:extLst>
            </p:cNvPr>
            <p:cNvSpPr txBox="1"/>
            <p:nvPr/>
          </p:nvSpPr>
          <p:spPr>
            <a:xfrm>
              <a:off x="1420095" y="5358270"/>
              <a:ext cx="1753981" cy="101566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0 </a:t>
              </a:r>
              <a:r>
                <a:rPr lang="en-US" sz="1200" dirty="0"/>
                <a:t>Under follow-up</a:t>
              </a:r>
            </a:p>
            <a:p>
              <a:r>
                <a:rPr lang="en-US" sz="1200" b="1" dirty="0"/>
                <a:t>0</a:t>
              </a:r>
              <a:r>
                <a:rPr lang="en-US" sz="1200" dirty="0"/>
                <a:t> Discontinued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Became pregnant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Refused endline visit</a:t>
              </a:r>
            </a:p>
            <a:p>
              <a:r>
                <a:rPr lang="en-US" sz="1200" b="1" dirty="0"/>
                <a:t>0</a:t>
              </a:r>
              <a:r>
                <a:rPr lang="en-US" sz="1200" dirty="0"/>
                <a:t> Permanently moved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30466100-91AF-6179-1454-E5874B6E4C3F}"/>
                </a:ext>
              </a:extLst>
            </p:cNvPr>
            <p:cNvCxnSpPr>
              <a:cxnSpLocks/>
              <a:stCxn id="43" idx="2"/>
              <a:endCxn id="47" idx="0"/>
            </p:cNvCxnSpPr>
            <p:nvPr/>
          </p:nvCxnSpPr>
          <p:spPr>
            <a:xfrm>
              <a:off x="1201382" y="5268911"/>
              <a:ext cx="10048" cy="119352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EDA4F7C-0AE2-FA3E-E75F-89988AFFA2CB}"/>
                </a:ext>
              </a:extLst>
            </p:cNvPr>
            <p:cNvCxnSpPr>
              <a:cxnSpLocks/>
              <a:stCxn id="44" idx="2"/>
            </p:cNvCxnSpPr>
            <p:nvPr/>
          </p:nvCxnSpPr>
          <p:spPr>
            <a:xfrm flipH="1">
              <a:off x="4071533" y="5259831"/>
              <a:ext cx="238" cy="121706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5F88C644-3114-A8F3-0C20-5E5F94C82CD4}"/>
                </a:ext>
              </a:extLst>
            </p:cNvPr>
            <p:cNvCxnSpPr>
              <a:cxnSpLocks/>
              <a:endCxn id="49" idx="0"/>
            </p:cNvCxnSpPr>
            <p:nvPr/>
          </p:nvCxnSpPr>
          <p:spPr>
            <a:xfrm flipH="1">
              <a:off x="6926385" y="5268150"/>
              <a:ext cx="1830" cy="1179735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0AD9EDAE-39B5-BAC7-3995-FF41AFB578E0}"/>
                </a:ext>
              </a:extLst>
            </p:cNvPr>
            <p:cNvCxnSpPr>
              <a:cxnSpLocks/>
              <a:endCxn id="50" idx="0"/>
            </p:cNvCxnSpPr>
            <p:nvPr/>
          </p:nvCxnSpPr>
          <p:spPr>
            <a:xfrm flipH="1">
              <a:off x="9778021" y="5261372"/>
              <a:ext cx="1830" cy="119491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2740D86A-7530-CEE2-0C97-9B754389017D}"/>
                </a:ext>
              </a:extLst>
            </p:cNvPr>
            <p:cNvCxnSpPr/>
            <p:nvPr/>
          </p:nvCxnSpPr>
          <p:spPr>
            <a:xfrm>
              <a:off x="1212243" y="5842502"/>
              <a:ext cx="196017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7DE99CC2-EC7A-8D80-B7F8-5395C3696092}"/>
                </a:ext>
              </a:extLst>
            </p:cNvPr>
            <p:cNvCxnSpPr/>
            <p:nvPr/>
          </p:nvCxnSpPr>
          <p:spPr>
            <a:xfrm>
              <a:off x="4077088" y="5840493"/>
              <a:ext cx="189584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2F40AD88-DE62-CB13-BCDF-CCBED7E65C47}"/>
                </a:ext>
              </a:extLst>
            </p:cNvPr>
            <p:cNvCxnSpPr/>
            <p:nvPr/>
          </p:nvCxnSpPr>
          <p:spPr>
            <a:xfrm>
              <a:off x="6955162" y="5840493"/>
              <a:ext cx="196018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C2AE89CF-0D66-C5A5-E3A5-419F27D7A60A}"/>
                </a:ext>
              </a:extLst>
            </p:cNvPr>
            <p:cNvCxnSpPr/>
            <p:nvPr/>
          </p:nvCxnSpPr>
          <p:spPr>
            <a:xfrm>
              <a:off x="9795563" y="5840493"/>
              <a:ext cx="196017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29D8972-B388-EAE4-E06A-035AE1312F67}"/>
                </a:ext>
              </a:extLst>
            </p:cNvPr>
            <p:cNvSpPr txBox="1"/>
            <p:nvPr/>
          </p:nvSpPr>
          <p:spPr>
            <a:xfrm>
              <a:off x="4276352" y="5360974"/>
              <a:ext cx="1753981" cy="101566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0 </a:t>
              </a:r>
              <a:r>
                <a:rPr lang="en-US" sz="1200" dirty="0"/>
                <a:t>Under follow-up</a:t>
              </a:r>
            </a:p>
            <a:p>
              <a:r>
                <a:rPr lang="en-US" sz="1200" b="1" dirty="0"/>
                <a:t>2</a:t>
              </a:r>
              <a:r>
                <a:rPr lang="en-US" sz="1200" dirty="0"/>
                <a:t> Discontinued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Became pregnant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Refused endline visit</a:t>
              </a:r>
            </a:p>
            <a:p>
              <a:r>
                <a:rPr lang="en-US" sz="1200" b="1" dirty="0"/>
                <a:t>1</a:t>
              </a:r>
              <a:r>
                <a:rPr lang="en-US" sz="1200" dirty="0"/>
                <a:t> Permanently moved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4C2FC7E-CF82-CC8A-8149-F4E0FFBB317F}"/>
                </a:ext>
              </a:extLst>
            </p:cNvPr>
            <p:cNvSpPr txBox="1"/>
            <p:nvPr/>
          </p:nvSpPr>
          <p:spPr>
            <a:xfrm>
              <a:off x="7151182" y="5354254"/>
              <a:ext cx="1753981" cy="101566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4 </a:t>
              </a:r>
              <a:r>
                <a:rPr lang="en-US" sz="1200" dirty="0"/>
                <a:t>Under follow-up</a:t>
              </a:r>
            </a:p>
            <a:p>
              <a:r>
                <a:rPr lang="en-US" sz="1200" b="1" dirty="0"/>
                <a:t>1</a:t>
              </a:r>
              <a:r>
                <a:rPr lang="en-US" sz="1200" dirty="0"/>
                <a:t> Discontinued</a:t>
              </a:r>
            </a:p>
            <a:p>
              <a:r>
                <a:rPr lang="en-US" sz="1200" b="1" dirty="0"/>
                <a:t>3 </a:t>
              </a:r>
              <a:r>
                <a:rPr lang="en-US" sz="1200" dirty="0"/>
                <a:t>Became pregnant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Refused endline visit</a:t>
              </a:r>
            </a:p>
            <a:p>
              <a:r>
                <a:rPr lang="en-US" sz="1200" b="1" dirty="0"/>
                <a:t>0</a:t>
              </a:r>
              <a:r>
                <a:rPr lang="en-US" sz="1200" dirty="0"/>
                <a:t> Permanently moved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6A9238F-8536-5291-4A09-8B5A0AFCFC56}"/>
                </a:ext>
              </a:extLst>
            </p:cNvPr>
            <p:cNvSpPr txBox="1"/>
            <p:nvPr/>
          </p:nvSpPr>
          <p:spPr>
            <a:xfrm>
              <a:off x="9977286" y="5332662"/>
              <a:ext cx="1753981" cy="101566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0 </a:t>
              </a:r>
              <a:r>
                <a:rPr lang="en-US" sz="1200" dirty="0"/>
                <a:t>Under follow-up</a:t>
              </a:r>
            </a:p>
            <a:p>
              <a:r>
                <a:rPr lang="en-US" sz="1200" b="1" dirty="0"/>
                <a:t>1</a:t>
              </a:r>
              <a:r>
                <a:rPr lang="en-US" sz="1200" dirty="0"/>
                <a:t> Discontinued</a:t>
              </a:r>
            </a:p>
            <a:p>
              <a:r>
                <a:rPr lang="en-US" sz="1200" b="1" dirty="0"/>
                <a:t>1 </a:t>
              </a:r>
              <a:r>
                <a:rPr lang="en-US" sz="1200" dirty="0"/>
                <a:t>Became pregnant</a:t>
              </a:r>
            </a:p>
            <a:p>
              <a:r>
                <a:rPr lang="en-US" sz="1200" b="1" dirty="0"/>
                <a:t>2 </a:t>
              </a:r>
              <a:r>
                <a:rPr lang="en-US" sz="1200" dirty="0"/>
                <a:t>Refused endline visit</a:t>
              </a:r>
            </a:p>
            <a:p>
              <a:r>
                <a:rPr lang="en-US" sz="1200" b="1" dirty="0"/>
                <a:t>1</a:t>
              </a:r>
              <a:r>
                <a:rPr lang="en-US" sz="1200" dirty="0"/>
                <a:t> Permanently moved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6161</TotalTime>
  <Words>259</Words>
  <Application>Microsoft Office PowerPoint</Application>
  <PresentationFormat>Widescreen</PresentationFormat>
  <Paragraphs>78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Brian Dyer</cp:lastModifiedBy>
  <cp:revision>13</cp:revision>
  <dcterms:created xsi:type="dcterms:W3CDTF">2024-04-26T15:51:54Z</dcterms:created>
  <dcterms:modified xsi:type="dcterms:W3CDTF">2024-12-14T00:28:41Z</dcterms:modified>
</cp:coreProperties>
</file>