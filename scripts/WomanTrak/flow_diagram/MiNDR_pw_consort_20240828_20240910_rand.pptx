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70" d="100"/>
          <a:sy n="70" d="100"/>
        </p:scale>
        <p:origin x="196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OF FEB 22 2024:</a:t>
            </a:r>
          </a:p>
          <a:p>
            <a:r>
              <a:rPr lang="en-US" dirty="0"/>
              <a:t>Total under pregnancy surveillance: 18,601 women</a:t>
            </a:r>
          </a:p>
          <a:p>
            <a:r>
              <a:rPr lang="en-US" dirty="0"/>
              <a:t>Total pregnancies detected: 2951</a:t>
            </a:r>
          </a:p>
          <a:p>
            <a:r>
              <a:rPr lang="en-US" dirty="0"/>
              <a:t>Total pregnant women enrolled: 2389</a:t>
            </a:r>
          </a:p>
          <a:p>
            <a:r>
              <a:rPr lang="en-US" dirty="0"/>
              <a:t>Total live births to date: 943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6836" y="1274040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2810" y="1663274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2810" y="2040507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20" y="33736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10" y="337326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1252" y="337340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4763" y="33666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04" y="51985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7154" y="2051618"/>
            <a:ext cx="3062766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246 </a:t>
            </a:r>
            <a:r>
              <a:rPr lang="en-US" sz="1200" dirty="0"/>
              <a:t>ineligible gestational age (&gt;=17 weeks)</a:t>
            </a:r>
            <a:endParaRPr lang="en-US" sz="1200" b="1" dirty="0"/>
          </a:p>
          <a:p>
            <a:r>
              <a:rPr lang="en-US" sz="1200" b="1" dirty="0"/>
              <a:t>9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32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  <a:p>
            <a:r>
              <a:rPr lang="en-US" sz="1200" b="1" dirty="0"/>
              <a:t>28</a:t>
            </a:r>
            <a:r>
              <a:rPr lang="en-US" sz="1200" dirty="0"/>
              <a:t> Enrolment pending</a:t>
            </a:r>
            <a:endParaRPr lang="en-US" sz="12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1428582" y="3726510"/>
            <a:ext cx="224866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4</a:t>
            </a:r>
            <a:r>
              <a:rPr lang="en-US" sz="1050" dirty="0"/>
              <a:t> Supplementation visit pending</a:t>
            </a:r>
          </a:p>
          <a:p>
            <a:r>
              <a:rPr lang="en-US" sz="1050" b="1" dirty="0"/>
              <a:t>3</a:t>
            </a:r>
            <a:r>
              <a:rPr lang="en-US" sz="1050" dirty="0"/>
              <a:t> Refused Ultrasound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3926" y="3720032"/>
            <a:ext cx="2261372" cy="12234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3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Supplementation visit pending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Refusing Supplementation/not met  </a:t>
            </a:r>
          </a:p>
          <a:p>
            <a:r>
              <a:rPr lang="en-US" sz="1050" b="1" dirty="0"/>
              <a:t>2</a:t>
            </a:r>
            <a:r>
              <a:rPr lang="en-US" sz="1050" dirty="0"/>
              <a:t> Refused Ultrasound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8266" y="3716423"/>
            <a:ext cx="2384673" cy="12234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6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Supplementation visit pending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Refusing supplementation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2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Refused Ultrasound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09902" y="3716226"/>
            <a:ext cx="2379356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6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Supplementation visit pending</a:t>
            </a:r>
          </a:p>
        </p:txBody>
      </p:sp>
      <p:cxnSp>
        <p:nvCxnSpPr>
          <p:cNvPr id="101" name="Straight Arrow Connector 100"/>
          <p:cNvCxnSpPr>
            <a:stCxn id="20" idx="2"/>
            <a:endCxn id="28" idx="0"/>
          </p:cNvCxnSpPr>
          <p:nvPr/>
        </p:nvCxnSpPr>
        <p:spPr>
          <a:xfrm flipH="1">
            <a:off x="1228438" y="3650684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21" idx="2"/>
            <a:endCxn id="67" idx="0"/>
          </p:cNvCxnSpPr>
          <p:nvPr/>
        </p:nvCxnSpPr>
        <p:spPr>
          <a:xfrm flipH="1">
            <a:off x="4098828" y="3650263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2" idx="2"/>
            <a:endCxn id="68" idx="0"/>
          </p:cNvCxnSpPr>
          <p:nvPr/>
        </p:nvCxnSpPr>
        <p:spPr>
          <a:xfrm flipH="1">
            <a:off x="6950271" y="365040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23" idx="2"/>
            <a:endCxn id="69" idx="0"/>
          </p:cNvCxnSpPr>
          <p:nvPr/>
        </p:nvCxnSpPr>
        <p:spPr>
          <a:xfrm flipH="1">
            <a:off x="9813781" y="3643625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225830" y="409389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4105261" y="409064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962145" y="409361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813782" y="408684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38948" y="252583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88167" y="312660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71362" y="310208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78148" y="311913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46358" y="311678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74493" y="51895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25936" y="518590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9447" y="51943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5112" y="5692025"/>
            <a:ext cx="2276767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28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5</a:t>
            </a:r>
            <a:r>
              <a:rPr lang="en-US" sz="1200" dirty="0"/>
              <a:t> live birth 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  <a:p>
            <a:r>
              <a:rPr lang="en-US" sz="1200" b="1" dirty="0"/>
              <a:t>1</a:t>
            </a:r>
            <a:r>
              <a:rPr lang="en-US" sz="1200" dirty="0"/>
              <a:t>Refused MPF form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4845" y="5677937"/>
            <a:ext cx="2537882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4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miscarriage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8265" y="5674525"/>
            <a:ext cx="233008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3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03167" y="5545107"/>
            <a:ext cx="256309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6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still birth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</p:txBody>
      </p:sp>
      <p:cxnSp>
        <p:nvCxnSpPr>
          <p:cNvPr id="82" name="Straight Arrow Connector 81"/>
          <p:cNvCxnSpPr>
            <a:stCxn id="28" idx="2"/>
            <a:endCxn id="102" idx="0"/>
          </p:cNvCxnSpPr>
          <p:nvPr/>
        </p:nvCxnSpPr>
        <p:spPr>
          <a:xfrm flipH="1">
            <a:off x="1221704" y="5475592"/>
            <a:ext cx="6735" cy="114312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2"/>
            <a:endCxn id="104" idx="0"/>
          </p:cNvCxnSpPr>
          <p:nvPr/>
        </p:nvCxnSpPr>
        <p:spPr>
          <a:xfrm flipH="1">
            <a:off x="4092093" y="5466513"/>
            <a:ext cx="6735" cy="11784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8" idx="2"/>
            <a:endCxn id="105" idx="0"/>
          </p:cNvCxnSpPr>
          <p:nvPr/>
        </p:nvCxnSpPr>
        <p:spPr>
          <a:xfrm flipH="1">
            <a:off x="6943729" y="5462905"/>
            <a:ext cx="6542" cy="11875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9" idx="2"/>
            <a:endCxn id="106" idx="0"/>
          </p:cNvCxnSpPr>
          <p:nvPr/>
        </p:nvCxnSpPr>
        <p:spPr>
          <a:xfrm flipH="1">
            <a:off x="9804438" y="5471303"/>
            <a:ext cx="9344" cy="115172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219095" y="591090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4098526" y="590765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955410" y="591062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807047" y="590384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7369" y="661871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67758" y="6644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29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19394" y="665043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0103" y="662302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32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104" y="809918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74493" y="8090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7811" y="80865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9447" y="80949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104" y="883326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83837" y="88327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9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7810" y="8829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11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9447" y="882897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4455" y="8438145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stCxn id="119" idx="2"/>
            <a:endCxn id="125" idx="0"/>
          </p:cNvCxnSpPr>
          <p:nvPr/>
        </p:nvCxnSpPr>
        <p:spPr>
          <a:xfrm>
            <a:off x="1228438" y="8376188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32" idx="1"/>
          </p:cNvCxnSpPr>
          <p:nvPr/>
        </p:nvCxnSpPr>
        <p:spPr>
          <a:xfrm flipV="1">
            <a:off x="1227321" y="8565103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296810" y="8429252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8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stCxn id="120" idx="2"/>
            <a:endCxn id="126" idx="0"/>
          </p:cNvCxnSpPr>
          <p:nvPr/>
        </p:nvCxnSpPr>
        <p:spPr>
          <a:xfrm>
            <a:off x="4098827" y="8367108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64" idx="1"/>
          </p:cNvCxnSpPr>
          <p:nvPr/>
        </p:nvCxnSpPr>
        <p:spPr>
          <a:xfrm flipV="1">
            <a:off x="4099676" y="855621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54075" y="8434053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stCxn id="122" idx="2"/>
          </p:cNvCxnSpPr>
          <p:nvPr/>
        </p:nvCxnSpPr>
        <p:spPr>
          <a:xfrm flipH="1">
            <a:off x="6958059" y="8363500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endCxn id="167" idx="1"/>
          </p:cNvCxnSpPr>
          <p:nvPr/>
        </p:nvCxnSpPr>
        <p:spPr>
          <a:xfrm flipV="1">
            <a:off x="6956941" y="856101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10007368" y="8433857"/>
            <a:ext cx="156006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10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stCxn id="124" idx="2"/>
          </p:cNvCxnSpPr>
          <p:nvPr/>
        </p:nvCxnSpPr>
        <p:spPr>
          <a:xfrm flipH="1">
            <a:off x="9811351" y="8371898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810234" y="856081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92575" y="1551039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92575" y="1940272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92575" y="2317505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46102" y="2940261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77847" y="299868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005169" y="300021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61866" y="2940261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51920" y="310656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51886" y="335348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313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63765" y="518826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253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63765" y="663466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123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73109" y="807060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73109" y="881342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34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92576" y="2419790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stCxn id="102" idx="2"/>
            <a:endCxn id="119" idx="0"/>
          </p:cNvCxnSpPr>
          <p:nvPr/>
        </p:nvCxnSpPr>
        <p:spPr>
          <a:xfrm>
            <a:off x="1221704" y="6895718"/>
            <a:ext cx="6735" cy="120347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stCxn id="104" idx="2"/>
            <a:endCxn id="120" idx="0"/>
          </p:cNvCxnSpPr>
          <p:nvPr/>
        </p:nvCxnSpPr>
        <p:spPr>
          <a:xfrm>
            <a:off x="4092093" y="6921930"/>
            <a:ext cx="6735" cy="11681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stCxn id="105" idx="2"/>
            <a:endCxn id="122" idx="0"/>
          </p:cNvCxnSpPr>
          <p:nvPr/>
        </p:nvCxnSpPr>
        <p:spPr>
          <a:xfrm>
            <a:off x="6943729" y="6927432"/>
            <a:ext cx="18417" cy="11590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106" idx="2"/>
            <a:endCxn id="124" idx="0"/>
          </p:cNvCxnSpPr>
          <p:nvPr/>
        </p:nvCxnSpPr>
        <p:spPr>
          <a:xfrm>
            <a:off x="9804438" y="6900028"/>
            <a:ext cx="9344" cy="11948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408375" y="1511783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1458452" y="7235202"/>
            <a:ext cx="2276767" cy="4154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14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live birth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4338185" y="7203728"/>
            <a:ext cx="2537882" cy="4154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1 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Pending biospecimen form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7201503" y="7140145"/>
            <a:ext cx="2330080" cy="57708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18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live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still birth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10053139" y="7135596"/>
            <a:ext cx="2563098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live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Still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1225830" y="742896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4105261" y="742571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956941" y="742868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819097" y="7421910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6426</TotalTime>
  <Words>395</Words>
  <Application>Microsoft Office PowerPoint</Application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7</cp:revision>
  <dcterms:created xsi:type="dcterms:W3CDTF">2024-04-26T15:51:54Z</dcterms:created>
  <dcterms:modified xsi:type="dcterms:W3CDTF">2024-09-13T14:41:24Z</dcterms:modified>
</cp:coreProperties>
</file>