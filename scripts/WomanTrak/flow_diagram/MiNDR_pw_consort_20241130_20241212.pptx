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13" r:id="rId2"/>
  </p:sldIdLst>
  <p:sldSz cx="12192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37" autoAdjust="0"/>
  </p:normalViewPr>
  <p:slideViewPr>
    <p:cSldViewPr snapToGrid="0">
      <p:cViewPr>
        <p:scale>
          <a:sx n="125" d="100"/>
          <a:sy n="125" d="100"/>
        </p:scale>
        <p:origin x="-2952" y="-39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Dyer" userId="f4d252ae-ea01-4f62-a905-b25723068793" providerId="ADAL" clId="{294FF479-0247-41E1-AA8A-1EE41B2B4732}"/>
    <pc:docChg chg="modSld">
      <pc:chgData name="Brian Dyer" userId="f4d252ae-ea01-4f62-a905-b25723068793" providerId="ADAL" clId="{294FF479-0247-41E1-AA8A-1EE41B2B4732}" dt="2024-11-22T15:21:38.676" v="5" actId="20577"/>
      <pc:docMkLst>
        <pc:docMk/>
      </pc:docMkLst>
      <pc:sldChg chg="modSp mod">
        <pc:chgData name="Brian Dyer" userId="f4d252ae-ea01-4f62-a905-b25723068793" providerId="ADAL" clId="{294FF479-0247-41E1-AA8A-1EE41B2B4732}" dt="2024-11-22T15:21:38.676" v="5" actId="20577"/>
        <pc:sldMkLst>
          <pc:docMk/>
          <pc:sldMk cId="0" sldId="313"/>
        </pc:sldMkLst>
        <pc:spChg chg="mod">
          <ac:chgData name="Brian Dyer" userId="f4d252ae-ea01-4f62-a905-b25723068793" providerId="ADAL" clId="{294FF479-0247-41E1-AA8A-1EE41B2B4732}" dt="2024-11-22T15:21:29.165" v="3" actId="20577"/>
          <ac:spMkLst>
            <pc:docMk/>
            <pc:sldMk cId="0" sldId="313"/>
            <ac:spMk id="196" creationId="{00000000-0000-0000-0000-000000000000}"/>
          </ac:spMkLst>
        </pc:spChg>
        <pc:spChg chg="mod">
          <ac:chgData name="Brian Dyer" userId="f4d252ae-ea01-4f62-a905-b25723068793" providerId="ADAL" clId="{294FF479-0247-41E1-AA8A-1EE41B2B4732}" dt="2024-11-22T15:21:38.676" v="5" actId="20577"/>
          <ac:spMkLst>
            <pc:docMk/>
            <pc:sldMk cId="0" sldId="313"/>
            <ac:spMk id="197" creationId="{00000000-0000-0000-0000-000000000000}"/>
          </ac:spMkLst>
        </pc:spChg>
      </pc:sldChg>
    </pc:docChg>
  </pc:docChgLst>
  <pc:docChgLst>
    <pc:chgData name="Brian Dyer" userId="f4d252ae-ea01-4f62-a905-b25723068793" providerId="ADAL" clId="{BD45AA02-6BAE-485B-A75B-13032F1655B2}"/>
    <pc:docChg chg="undo redo custSel modSld">
      <pc:chgData name="Brian Dyer" userId="f4d252ae-ea01-4f62-a905-b25723068793" providerId="ADAL" clId="{BD45AA02-6BAE-485B-A75B-13032F1655B2}" dt="2024-12-14T14:01:34.905" v="195" actId="20577"/>
      <pc:docMkLst>
        <pc:docMk/>
      </pc:docMkLst>
      <pc:sldChg chg="modSp mod">
        <pc:chgData name="Brian Dyer" userId="f4d252ae-ea01-4f62-a905-b25723068793" providerId="ADAL" clId="{BD45AA02-6BAE-485B-A75B-13032F1655B2}" dt="2024-12-14T14:01:34.905" v="195" actId="20577"/>
        <pc:sldMkLst>
          <pc:docMk/>
          <pc:sldMk cId="0" sldId="313"/>
        </pc:sldMkLst>
        <pc:spChg chg="mod">
          <ac:chgData name="Brian Dyer" userId="f4d252ae-ea01-4f62-a905-b25723068793" providerId="ADAL" clId="{BD45AA02-6BAE-485B-A75B-13032F1655B2}" dt="2024-12-13T21:34:44.367" v="95" actId="20577"/>
          <ac:spMkLst>
            <pc:docMk/>
            <pc:sldMk cId="0" sldId="313"/>
            <ac:spMk id="74" creationId="{00000000-0000-0000-0000-000000000000}"/>
          </ac:spMkLst>
        </pc:spChg>
        <pc:spChg chg="mod">
          <ac:chgData name="Brian Dyer" userId="f4d252ae-ea01-4f62-a905-b25723068793" providerId="ADAL" clId="{BD45AA02-6BAE-485B-A75B-13032F1655B2}" dt="2024-12-13T18:36:32.584" v="3" actId="20577"/>
          <ac:spMkLst>
            <pc:docMk/>
            <pc:sldMk cId="0" sldId="313"/>
            <ac:spMk id="79" creationId="{00000000-0000-0000-0000-000000000000}"/>
          </ac:spMkLst>
        </pc:spChg>
        <pc:spChg chg="mod">
          <ac:chgData name="Brian Dyer" userId="f4d252ae-ea01-4f62-a905-b25723068793" providerId="ADAL" clId="{BD45AA02-6BAE-485B-A75B-13032F1655B2}" dt="2024-12-13T18:53:35.953" v="16" actId="20577"/>
          <ac:spMkLst>
            <pc:docMk/>
            <pc:sldMk cId="0" sldId="313"/>
            <ac:spMk id="80" creationId="{00000000-0000-0000-0000-000000000000}"/>
          </ac:spMkLst>
        </pc:spChg>
        <pc:spChg chg="mod">
          <ac:chgData name="Brian Dyer" userId="f4d252ae-ea01-4f62-a905-b25723068793" providerId="ADAL" clId="{BD45AA02-6BAE-485B-A75B-13032F1655B2}" dt="2024-12-13T18:54:47.792" v="22" actId="20577"/>
          <ac:spMkLst>
            <pc:docMk/>
            <pc:sldMk cId="0" sldId="313"/>
            <ac:spMk id="81" creationId="{00000000-0000-0000-0000-000000000000}"/>
          </ac:spMkLst>
        </pc:spChg>
        <pc:spChg chg="mod">
          <ac:chgData name="Brian Dyer" userId="f4d252ae-ea01-4f62-a905-b25723068793" providerId="ADAL" clId="{BD45AA02-6BAE-485B-A75B-13032F1655B2}" dt="2024-12-13T22:36:18.020" v="107" actId="20577"/>
          <ac:spMkLst>
            <pc:docMk/>
            <pc:sldMk cId="0" sldId="313"/>
            <ac:spMk id="98" creationId="{76B7BF97-FD29-4B8E-84DF-E115D1549723}"/>
          </ac:spMkLst>
        </pc:spChg>
        <pc:spChg chg="mod">
          <ac:chgData name="Brian Dyer" userId="f4d252ae-ea01-4f62-a905-b25723068793" providerId="ADAL" clId="{BD45AA02-6BAE-485B-A75B-13032F1655B2}" dt="2024-12-13T18:52:54.664" v="9" actId="20577"/>
          <ac:spMkLst>
            <pc:docMk/>
            <pc:sldMk cId="0" sldId="313"/>
            <ac:spMk id="102" creationId="{00000000-0000-0000-0000-000000000000}"/>
          </ac:spMkLst>
        </pc:spChg>
        <pc:spChg chg="mod">
          <ac:chgData name="Brian Dyer" userId="f4d252ae-ea01-4f62-a905-b25723068793" providerId="ADAL" clId="{BD45AA02-6BAE-485B-A75B-13032F1655B2}" dt="2024-12-13T22:38:11.371" v="116" actId="20577"/>
          <ac:spMkLst>
            <pc:docMk/>
            <pc:sldMk cId="0" sldId="313"/>
            <ac:spMk id="103" creationId="{C1615B3A-3FBA-41A3-9641-481CD0C6BE52}"/>
          </ac:spMkLst>
        </pc:spChg>
        <pc:spChg chg="mod">
          <ac:chgData name="Brian Dyer" userId="f4d252ae-ea01-4f62-a905-b25723068793" providerId="ADAL" clId="{BD45AA02-6BAE-485B-A75B-13032F1655B2}" dt="2024-12-13T18:52:57.848" v="11" actId="20577"/>
          <ac:spMkLst>
            <pc:docMk/>
            <pc:sldMk cId="0" sldId="313"/>
            <ac:spMk id="104" creationId="{00000000-0000-0000-0000-000000000000}"/>
          </ac:spMkLst>
        </pc:spChg>
        <pc:spChg chg="mod">
          <ac:chgData name="Brian Dyer" userId="f4d252ae-ea01-4f62-a905-b25723068793" providerId="ADAL" clId="{BD45AA02-6BAE-485B-A75B-13032F1655B2}" dt="2024-12-13T18:53:06.449" v="15" actId="20577"/>
          <ac:spMkLst>
            <pc:docMk/>
            <pc:sldMk cId="0" sldId="313"/>
            <ac:spMk id="105" creationId="{00000000-0000-0000-0000-000000000000}"/>
          </ac:spMkLst>
        </pc:spChg>
        <pc:spChg chg="mod">
          <ac:chgData name="Brian Dyer" userId="f4d252ae-ea01-4f62-a905-b25723068793" providerId="ADAL" clId="{BD45AA02-6BAE-485B-A75B-13032F1655B2}" dt="2024-12-13T18:56:46.733" v="28" actId="1076"/>
          <ac:spMkLst>
            <pc:docMk/>
            <pc:sldMk cId="0" sldId="313"/>
            <ac:spMk id="106" creationId="{00000000-0000-0000-0000-000000000000}"/>
          </ac:spMkLst>
        </pc:spChg>
        <pc:spChg chg="mod">
          <ac:chgData name="Brian Dyer" userId="f4d252ae-ea01-4f62-a905-b25723068793" providerId="ADAL" clId="{BD45AA02-6BAE-485B-A75B-13032F1655B2}" dt="2024-12-13T23:27:30.355" v="126" actId="20577"/>
          <ac:spMkLst>
            <pc:docMk/>
            <pc:sldMk cId="0" sldId="313"/>
            <ac:spMk id="107" creationId="{EA6597A6-3B92-4EBD-9626-A72B2B148FA0}"/>
          </ac:spMkLst>
        </pc:spChg>
        <pc:spChg chg="mod">
          <ac:chgData name="Brian Dyer" userId="f4d252ae-ea01-4f62-a905-b25723068793" providerId="ADAL" clId="{BD45AA02-6BAE-485B-A75B-13032F1655B2}" dt="2024-12-13T23:28:27.570" v="129" actId="20577"/>
          <ac:spMkLst>
            <pc:docMk/>
            <pc:sldMk cId="0" sldId="313"/>
            <ac:spMk id="108" creationId="{8C374FDB-5D21-4B43-8585-B1F0B70ED270}"/>
          </ac:spMkLst>
        </pc:spChg>
        <pc:spChg chg="mod">
          <ac:chgData name="Brian Dyer" userId="f4d252ae-ea01-4f62-a905-b25723068793" providerId="ADAL" clId="{BD45AA02-6BAE-485B-A75B-13032F1655B2}" dt="2024-12-13T21:05:04.479" v="56" actId="20577"/>
          <ac:spMkLst>
            <pc:docMk/>
            <pc:sldMk cId="0" sldId="313"/>
            <ac:spMk id="119" creationId="{00000000-0000-0000-0000-000000000000}"/>
          </ac:spMkLst>
        </pc:spChg>
        <pc:spChg chg="mod">
          <ac:chgData name="Brian Dyer" userId="f4d252ae-ea01-4f62-a905-b25723068793" providerId="ADAL" clId="{BD45AA02-6BAE-485B-A75B-13032F1655B2}" dt="2024-12-13T21:05:06.447" v="58" actId="20577"/>
          <ac:spMkLst>
            <pc:docMk/>
            <pc:sldMk cId="0" sldId="313"/>
            <ac:spMk id="120" creationId="{00000000-0000-0000-0000-000000000000}"/>
          </ac:spMkLst>
        </pc:spChg>
        <pc:spChg chg="mod">
          <ac:chgData name="Brian Dyer" userId="f4d252ae-ea01-4f62-a905-b25723068793" providerId="ADAL" clId="{BD45AA02-6BAE-485B-A75B-13032F1655B2}" dt="2024-12-13T21:05:11.760" v="62" actId="20577"/>
          <ac:spMkLst>
            <pc:docMk/>
            <pc:sldMk cId="0" sldId="313"/>
            <ac:spMk id="122" creationId="{00000000-0000-0000-0000-000000000000}"/>
          </ac:spMkLst>
        </pc:spChg>
        <pc:spChg chg="mod">
          <ac:chgData name="Brian Dyer" userId="f4d252ae-ea01-4f62-a905-b25723068793" providerId="ADAL" clId="{BD45AA02-6BAE-485B-A75B-13032F1655B2}" dt="2024-12-13T21:05:16.094" v="64" actId="20577"/>
          <ac:spMkLst>
            <pc:docMk/>
            <pc:sldMk cId="0" sldId="313"/>
            <ac:spMk id="124" creationId="{00000000-0000-0000-0000-000000000000}"/>
          </ac:spMkLst>
        </pc:spChg>
        <pc:spChg chg="mod">
          <ac:chgData name="Brian Dyer" userId="f4d252ae-ea01-4f62-a905-b25723068793" providerId="ADAL" clId="{BD45AA02-6BAE-485B-A75B-13032F1655B2}" dt="2024-12-14T14:01:09.514" v="164" actId="20577"/>
          <ac:spMkLst>
            <pc:docMk/>
            <pc:sldMk cId="0" sldId="313"/>
            <ac:spMk id="125" creationId="{00000000-0000-0000-0000-000000000000}"/>
          </ac:spMkLst>
        </pc:spChg>
        <pc:spChg chg="mod">
          <ac:chgData name="Brian Dyer" userId="f4d252ae-ea01-4f62-a905-b25723068793" providerId="ADAL" clId="{BD45AA02-6BAE-485B-A75B-13032F1655B2}" dt="2024-12-13T21:21:08.919" v="85" actId="20577"/>
          <ac:spMkLst>
            <pc:docMk/>
            <pc:sldMk cId="0" sldId="313"/>
            <ac:spMk id="126" creationId="{00000000-0000-0000-0000-000000000000}"/>
          </ac:spMkLst>
        </pc:spChg>
        <pc:spChg chg="mod">
          <ac:chgData name="Brian Dyer" userId="f4d252ae-ea01-4f62-a905-b25723068793" providerId="ADAL" clId="{BD45AA02-6BAE-485B-A75B-13032F1655B2}" dt="2024-12-13T21:20:57.480" v="77" actId="20577"/>
          <ac:spMkLst>
            <pc:docMk/>
            <pc:sldMk cId="0" sldId="313"/>
            <ac:spMk id="128" creationId="{00000000-0000-0000-0000-000000000000}"/>
          </ac:spMkLst>
        </pc:spChg>
        <pc:spChg chg="mod">
          <ac:chgData name="Brian Dyer" userId="f4d252ae-ea01-4f62-a905-b25723068793" providerId="ADAL" clId="{BD45AA02-6BAE-485B-A75B-13032F1655B2}" dt="2024-12-14T14:01:27.321" v="193" actId="113"/>
          <ac:spMkLst>
            <pc:docMk/>
            <pc:sldMk cId="0" sldId="313"/>
            <ac:spMk id="130" creationId="{00000000-0000-0000-0000-000000000000}"/>
          </ac:spMkLst>
        </pc:spChg>
        <pc:spChg chg="mod">
          <ac:chgData name="Brian Dyer" userId="f4d252ae-ea01-4f62-a905-b25723068793" providerId="ADAL" clId="{BD45AA02-6BAE-485B-A75B-13032F1655B2}" dt="2024-12-13T21:20:42.767" v="72" actId="20577"/>
          <ac:spMkLst>
            <pc:docMk/>
            <pc:sldMk cId="0" sldId="313"/>
            <ac:spMk id="164" creationId="{00000000-0000-0000-0000-000000000000}"/>
          </ac:spMkLst>
        </pc:spChg>
        <pc:spChg chg="mod">
          <ac:chgData name="Brian Dyer" userId="f4d252ae-ea01-4f62-a905-b25723068793" providerId="ADAL" clId="{BD45AA02-6BAE-485B-A75B-13032F1655B2}" dt="2024-12-13T21:20:49.434" v="73" actId="20577"/>
          <ac:spMkLst>
            <pc:docMk/>
            <pc:sldMk cId="0" sldId="313"/>
            <ac:spMk id="167" creationId="{00000000-0000-0000-0000-000000000000}"/>
          </ac:spMkLst>
        </pc:spChg>
        <pc:spChg chg="mod">
          <ac:chgData name="Brian Dyer" userId="f4d252ae-ea01-4f62-a905-b25723068793" providerId="ADAL" clId="{BD45AA02-6BAE-485B-A75B-13032F1655B2}" dt="2024-12-13T18:56:41.785" v="26" actId="20577"/>
          <ac:spMkLst>
            <pc:docMk/>
            <pc:sldMk cId="0" sldId="313"/>
            <ac:spMk id="195" creationId="{00000000-0000-0000-0000-000000000000}"/>
          </ac:spMkLst>
        </pc:spChg>
        <pc:spChg chg="mod">
          <ac:chgData name="Brian Dyer" userId="f4d252ae-ea01-4f62-a905-b25723068793" providerId="ADAL" clId="{BD45AA02-6BAE-485B-A75B-13032F1655B2}" dt="2024-12-13T23:29:43.203" v="132" actId="20577"/>
          <ac:spMkLst>
            <pc:docMk/>
            <pc:sldMk cId="0" sldId="313"/>
            <ac:spMk id="196" creationId="{00000000-0000-0000-0000-000000000000}"/>
          </ac:spMkLst>
        </pc:spChg>
        <pc:spChg chg="mod">
          <ac:chgData name="Brian Dyer" userId="f4d252ae-ea01-4f62-a905-b25723068793" providerId="ADAL" clId="{BD45AA02-6BAE-485B-A75B-13032F1655B2}" dt="2024-12-14T14:01:34.905" v="195" actId="20577"/>
          <ac:spMkLst>
            <pc:docMk/>
            <pc:sldMk cId="0" sldId="313"/>
            <ac:spMk id="19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43C3DF-90A7-4942-B350-BDBE77F37567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E2798-6523-4183-B3F6-002CAFAF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044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515E3-3529-43C2-B2A5-89296F7A1030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15E60-3424-5CC3-CFF6-523EEB57E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96484"/>
            <a:ext cx="9144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42749-9FAA-3E35-9110-DDB787BC6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02717"/>
            <a:ext cx="9144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D6872-20D0-3106-C53A-AFC8C3998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2CF7E-B84F-837C-0259-0D356EF1F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DB10C-E22B-625D-6BDD-D14DCE8E5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69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80E0B-B2B1-9CF6-7674-7F26612A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842E6-FFE1-C35B-E78B-603FB8CA0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04415-6CC4-7DA3-820B-A2ED43835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B1703-5B68-8F07-ADA6-59092D2A2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9AD46-BA4C-229B-057C-AC104BE5C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05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B3CB9-4AF8-686B-78AF-FC8C08591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279652"/>
            <a:ext cx="105156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D5135-643C-7612-C8C2-DC5331F83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6119285"/>
            <a:ext cx="105156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66042-E920-06E3-5B13-39C2BA84D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AE866-7422-744D-E547-1F7D666A5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DDAA6-98CD-BDDF-D9A3-95EA2F674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994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3800F-7416-007B-F823-627B23083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E00A3-B556-5BF5-46BC-C696584CA3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DEA638-9726-BE9A-A56E-1610BDE04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9E780-DFBC-5A6F-A2F6-DF651D155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43EF1-937C-6E94-8AE9-2D09955F8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D1336-D110-1C21-8D32-49E5B6AF2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75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FE582-4E07-EFF1-F59D-29335E54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86834"/>
            <a:ext cx="10515600" cy="1767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1EA8D-F321-7C67-285A-DBFB11FB5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2241551"/>
            <a:ext cx="515778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1F9BC-F981-17D7-B1B6-02EC8DA65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3340100"/>
            <a:ext cx="51577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CBB67E-9279-3C59-BF26-5D9576E61E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241551"/>
            <a:ext cx="5183188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F017C2-1507-CB90-B439-718F1F4270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340100"/>
            <a:ext cx="5183188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075676-3F65-BCFB-D2AF-57DBBA470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11DF1D-33C7-FA28-6953-5BBF63791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3043D5-8769-ED3C-7232-FC3AEFA9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227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4205E-C90D-5746-AC95-698FD9D0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5B601F-EAB4-6E61-AFD1-D85AAAD7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A62C15-BC6C-62D0-E396-996038D13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BD979C-204B-E09D-1232-C08DA83BB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586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AF467D-9F15-48BE-5268-71DD15EC2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D13D72-3584-0263-7240-1180DDE44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6DBB8-A486-313E-CC00-CE981770D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27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4E796-67D4-390F-DDD5-CD4DE9468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609600"/>
            <a:ext cx="3932237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1B394-66A0-736D-73BC-733F5459F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316567"/>
            <a:ext cx="61722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D8A2C1-E504-706A-0D4E-D6559FB6B9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743200"/>
            <a:ext cx="3932237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45132-D4F2-FCAD-7170-374B9A780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E6270-5DAC-DB6D-B481-BB1D67964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9DA86-3660-200C-AC2C-B8722B03A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1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15527-FFF4-C90C-BEC5-B6E89AFA2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609600"/>
            <a:ext cx="3932237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7EED64-C9A5-85DF-7275-2AAF3E19DD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316567"/>
            <a:ext cx="61722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6B788E-702B-BD3C-A471-060E49703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743200"/>
            <a:ext cx="3932237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C52E19-9FFD-DB10-2E63-0F18102D8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3A803-B96A-C4D1-C472-A299762CD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02127-18DC-E909-5828-BDF21BDF1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155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E5299-BA04-F9E8-6FB5-5603AA7BD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7CF9D-05AE-47C0-1BDC-61F7A0B3F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4661F-4578-B91D-E902-1363F4BF6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49BDD-E24B-B89C-4EB9-D7D3E7875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D7DD9-4F53-3023-FA9D-626E6582F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00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87AC34-9D89-3DEF-7580-C7EF918A1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486834"/>
            <a:ext cx="26289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67B501-6051-B0CF-52DF-27079BA7D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86834"/>
            <a:ext cx="77343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C69C2-3562-CA1A-3C5E-DF4F7F985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4CE51-AEF0-24AF-485C-2D01FB4F7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A5CD0-8911-8234-D0ED-D9A733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41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C7A2E3-3F48-2D70-9D19-0319F6C13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6834"/>
            <a:ext cx="105156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6B39B-6996-0BB0-3008-99D897E6F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34167"/>
            <a:ext cx="105156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7C364-764C-92C8-E0D9-51A9771853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8475134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CDAD30-098A-49B4-906E-BBA6E88BA519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8D552-CABE-3DD4-F3CC-1B2133F21C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8475134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294E0-9722-1226-5DF7-7786EC9A51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8475134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9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84909" y="486861"/>
            <a:ext cx="5991478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 Unions </a:t>
            </a:r>
            <a:r>
              <a:rPr lang="en-US" sz="1200" dirty="0"/>
              <a:t>in the Gaibandha district (75 sectors) selected for study area (9691 women)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60883" y="876095"/>
            <a:ext cx="343953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3999 women </a:t>
            </a:r>
            <a:r>
              <a:rPr lang="en-US" sz="1200" dirty="0"/>
              <a:t>eligible for pregnancy surveillance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0883" y="1253328"/>
            <a:ext cx="343953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661 pregnancies </a:t>
            </a:r>
            <a:r>
              <a:rPr lang="en-US" sz="1200" dirty="0"/>
              <a:t>detected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493" y="258650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89</a:t>
            </a:r>
            <a:r>
              <a:rPr lang="en-US" sz="1200" dirty="0"/>
              <a:t> pregnant women enrolled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67883" y="258608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88</a:t>
            </a:r>
            <a:r>
              <a:rPr lang="en-US" sz="1200" dirty="0"/>
              <a:t> pregnant women enrolled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19325" y="2586224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88</a:t>
            </a:r>
            <a:r>
              <a:rPr lang="en-US" sz="1200" dirty="0"/>
              <a:t> pregnant women enrolled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2836" y="2579448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89</a:t>
            </a:r>
            <a:r>
              <a:rPr lang="en-US" sz="1200" dirty="0"/>
              <a:t> pregnant women enrolled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493" y="427095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72</a:t>
            </a:r>
            <a:r>
              <a:rPr lang="en-US" sz="1200" dirty="0"/>
              <a:t> started supplementation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15227" y="1264439"/>
            <a:ext cx="3201618" cy="83099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260 </a:t>
            </a:r>
            <a:r>
              <a:rPr lang="en-US" sz="1200" dirty="0"/>
              <a:t>Ineligible, gestational age &gt;=16 weeks</a:t>
            </a:r>
            <a:endParaRPr lang="en-US" sz="1200" b="1" dirty="0"/>
          </a:p>
          <a:p>
            <a:r>
              <a:rPr lang="en-US" sz="1200" b="1" dirty="0"/>
              <a:t>11 </a:t>
            </a:r>
            <a:r>
              <a:rPr lang="en-US" sz="1200" dirty="0"/>
              <a:t>Miscarriage</a:t>
            </a:r>
          </a:p>
          <a:p>
            <a:r>
              <a:rPr lang="en-US" sz="1200" b="1" dirty="0"/>
              <a:t>35 </a:t>
            </a:r>
            <a:r>
              <a:rPr lang="en-US" sz="1200" dirty="0"/>
              <a:t>MR</a:t>
            </a:r>
          </a:p>
          <a:p>
            <a:r>
              <a:rPr lang="en-US" sz="1200" b="1" dirty="0"/>
              <a:t>1 </a:t>
            </a:r>
            <a:r>
              <a:rPr lang="en-US" sz="1200" dirty="0"/>
              <a:t>Refused Consent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20766" y="2933414"/>
            <a:ext cx="2248669" cy="90024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9</a:t>
            </a:r>
            <a:r>
              <a:rPr lang="en-US" sz="1050" dirty="0"/>
              <a:t> Miscarriage</a:t>
            </a:r>
          </a:p>
          <a:p>
            <a:r>
              <a:rPr lang="en-US" sz="1050" b="1" dirty="0"/>
              <a:t>4</a:t>
            </a:r>
            <a:r>
              <a:rPr lang="en-US" sz="1050" dirty="0"/>
              <a:t> Discontinued, GA&gt;=16 </a:t>
            </a:r>
            <a:r>
              <a:rPr lang="en-US" sz="1050" dirty="0" err="1"/>
              <a:t>wks</a:t>
            </a:r>
            <a:r>
              <a:rPr lang="en-US" sz="1050" b="1" dirty="0"/>
              <a:t> </a:t>
            </a:r>
            <a:r>
              <a:rPr lang="en-US" sz="1050" dirty="0"/>
              <a:t>(USG)</a:t>
            </a:r>
          </a:p>
          <a:p>
            <a:r>
              <a:rPr lang="en-US" sz="1050" b="1" dirty="0"/>
              <a:t>1</a:t>
            </a:r>
            <a:r>
              <a:rPr lang="en-US" sz="1050" dirty="0"/>
              <a:t> Discontinued (PX)</a:t>
            </a:r>
          </a:p>
          <a:p>
            <a:r>
              <a:rPr lang="en-US" sz="1050" b="1" dirty="0"/>
              <a:t>2 </a:t>
            </a:r>
            <a:r>
              <a:rPr lang="en-US" sz="1050" dirty="0"/>
              <a:t>Refused biospecimen collection</a:t>
            </a:r>
          </a:p>
          <a:p>
            <a:r>
              <a:rPr lang="en-US" sz="1050" b="1" dirty="0"/>
              <a:t>1</a:t>
            </a:r>
            <a:r>
              <a:rPr lang="en-US" sz="1050" dirty="0"/>
              <a:t> Refused Ultrasound*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576275" y="2930356"/>
            <a:ext cx="2248399" cy="10618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6</a:t>
            </a:r>
            <a:r>
              <a:rPr lang="en-US" sz="1050" dirty="0"/>
              <a:t> Miscarriage</a:t>
            </a:r>
          </a:p>
          <a:p>
            <a:r>
              <a:rPr lang="en-US" sz="1050" b="1" dirty="0"/>
              <a:t>2</a:t>
            </a:r>
            <a:r>
              <a:rPr lang="en-US" sz="1050" dirty="0"/>
              <a:t> Discontinued, GA&gt;=16 </a:t>
            </a:r>
            <a:r>
              <a:rPr lang="en-US" sz="1050" dirty="0" err="1"/>
              <a:t>wks</a:t>
            </a:r>
            <a:r>
              <a:rPr lang="en-US" sz="1050" b="1" dirty="0"/>
              <a:t> </a:t>
            </a:r>
            <a:r>
              <a:rPr lang="en-US" sz="1050" dirty="0"/>
              <a:t>(USG)</a:t>
            </a:r>
          </a:p>
          <a:p>
            <a:r>
              <a:rPr lang="en-US" sz="1050" b="1" dirty="0"/>
              <a:t>5</a:t>
            </a:r>
            <a:r>
              <a:rPr lang="en-US" sz="1050" dirty="0"/>
              <a:t> Discontinued (PX)</a:t>
            </a:r>
          </a:p>
          <a:p>
            <a:r>
              <a:rPr lang="en-US" sz="1050" b="1" dirty="0"/>
              <a:t>1 </a:t>
            </a:r>
            <a:r>
              <a:rPr lang="en-US" sz="1050" dirty="0"/>
              <a:t>Refused biospecimen collection </a:t>
            </a:r>
          </a:p>
          <a:p>
            <a:r>
              <a:rPr lang="en-US" sz="1050" b="1" dirty="0"/>
              <a:t>1</a:t>
            </a:r>
            <a:r>
              <a:rPr lang="en-US" sz="1050" dirty="0"/>
              <a:t> Refused supplementation/not met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66876" y="2928403"/>
            <a:ext cx="2210644" cy="10618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dirty="0">
                <a:solidFill>
                  <a:srgbClr val="000000"/>
                </a:solidFill>
                <a:latin typeface="Aptos (Body)"/>
              </a:rPr>
              <a:t>7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Miscarriage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3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</a:t>
            </a:r>
            <a:r>
              <a:rPr lang="en-US" sz="1050" dirty="0"/>
              <a:t>Discontinued, GA&gt;=16 </a:t>
            </a:r>
            <a:r>
              <a:rPr lang="en-US" sz="1050" dirty="0" err="1"/>
              <a:t>wks</a:t>
            </a:r>
            <a:r>
              <a:rPr lang="en-US" sz="1050" b="1" dirty="0"/>
              <a:t> </a:t>
            </a:r>
            <a:r>
              <a:rPr lang="en-US" sz="1050" dirty="0"/>
              <a:t>(USG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)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0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Discontinued (PX)</a:t>
            </a:r>
          </a:p>
          <a:p>
            <a:r>
              <a:rPr lang="en-US" sz="1050" b="1" dirty="0"/>
              <a:t>1 </a:t>
            </a:r>
            <a:r>
              <a:rPr lang="en-US" sz="1050" dirty="0"/>
              <a:t>Refused biospecimen collection 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0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</a:t>
            </a:r>
            <a:r>
              <a:rPr lang="en-US" sz="1050" dirty="0"/>
              <a:t>Refused supplementation/not met</a:t>
            </a:r>
            <a:endParaRPr lang="en-US" sz="1050" i="0" dirty="0">
              <a:solidFill>
                <a:srgbClr val="000000"/>
              </a:solidFill>
              <a:effectLst/>
              <a:latin typeface="Aptos (Body)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9301988" y="2928403"/>
            <a:ext cx="2255628" cy="10618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5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 Miscarriage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3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 </a:t>
            </a:r>
            <a:r>
              <a:rPr lang="en-US" sz="1050" dirty="0"/>
              <a:t> Discontinued, GA&gt;=16 </a:t>
            </a:r>
            <a:r>
              <a:rPr lang="en-US" sz="1050" dirty="0" err="1"/>
              <a:t>wks</a:t>
            </a:r>
            <a:r>
              <a:rPr lang="en-US" sz="1050" b="1" dirty="0"/>
              <a:t> </a:t>
            </a:r>
            <a:r>
              <a:rPr lang="en-US" sz="1050" dirty="0"/>
              <a:t>(USG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)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 Discontinued (PX)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Refused biospecimen collection </a:t>
            </a:r>
          </a:p>
          <a:p>
            <a:r>
              <a:rPr lang="en-US" sz="1050" b="1" dirty="0"/>
              <a:t>1</a:t>
            </a:r>
            <a:r>
              <a:rPr lang="en-US" sz="1050" dirty="0"/>
              <a:t> Refused supplementation/not met</a:t>
            </a:r>
          </a:p>
        </p:txBody>
      </p:sp>
      <p:cxnSp>
        <p:nvCxnSpPr>
          <p:cNvPr id="101" name="Straight Arrow Connector 100"/>
          <p:cNvCxnSpPr>
            <a:cxnSpLocks/>
          </p:cNvCxnSpPr>
          <p:nvPr/>
        </p:nvCxnSpPr>
        <p:spPr>
          <a:xfrm flipH="1">
            <a:off x="523227" y="2857588"/>
            <a:ext cx="2711" cy="1400682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>
            <a:cxnSpLocks/>
          </p:cNvCxnSpPr>
          <p:nvPr/>
        </p:nvCxnSpPr>
        <p:spPr>
          <a:xfrm flipH="1">
            <a:off x="3381052" y="2860587"/>
            <a:ext cx="5442" cy="1376662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/>
          <p:cNvCxnSpPr>
            <a:cxnSpLocks/>
          </p:cNvCxnSpPr>
          <p:nvPr/>
        </p:nvCxnSpPr>
        <p:spPr>
          <a:xfrm flipH="1">
            <a:off x="6250045" y="2862382"/>
            <a:ext cx="14151" cy="1374867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>
            <a:cxnSpLocks/>
          </p:cNvCxnSpPr>
          <p:nvPr/>
        </p:nvCxnSpPr>
        <p:spPr>
          <a:xfrm flipH="1">
            <a:off x="9100969" y="2855802"/>
            <a:ext cx="10214" cy="139944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/>
          <p:cNvCxnSpPr/>
          <p:nvPr/>
        </p:nvCxnSpPr>
        <p:spPr>
          <a:xfrm>
            <a:off x="518014" y="3300803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3387610" y="3300967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/>
          <p:nvPr/>
        </p:nvCxnSpPr>
        <p:spPr>
          <a:xfrm>
            <a:off x="6270754" y="3305596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9105868" y="3299017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3927021" y="1738651"/>
            <a:ext cx="3307254" cy="485537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354 </a:t>
            </a:r>
            <a:r>
              <a:rPr lang="en-US" sz="1200" dirty="0">
                <a:solidFill>
                  <a:schemeClr val="tx1"/>
                </a:solidFill>
              </a:rPr>
              <a:t>pregnant women consented and randomized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-100094" y="2339430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W</a:t>
            </a:r>
            <a:endParaRPr lang="en-US" sz="1200" dirty="0"/>
          </a:p>
        </p:txBody>
      </p:sp>
      <p:sp>
        <p:nvSpPr>
          <p:cNvPr id="39" name="TextBox 38"/>
          <p:cNvSpPr txBox="1"/>
          <p:nvPr/>
        </p:nvSpPr>
        <p:spPr>
          <a:xfrm>
            <a:off x="2659435" y="2314908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X</a:t>
            </a:r>
            <a:endParaRPr lang="en-US" sz="1200" dirty="0"/>
          </a:p>
        </p:txBody>
      </p:sp>
      <p:sp>
        <p:nvSpPr>
          <p:cNvPr id="40" name="TextBox 39"/>
          <p:cNvSpPr txBox="1"/>
          <p:nvPr/>
        </p:nvSpPr>
        <p:spPr>
          <a:xfrm>
            <a:off x="5866221" y="2331960"/>
            <a:ext cx="2177732" cy="274648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Y</a:t>
            </a:r>
            <a:endParaRPr lang="en-US" sz="1200" dirty="0"/>
          </a:p>
        </p:txBody>
      </p:sp>
      <p:sp>
        <p:nvSpPr>
          <p:cNvPr id="41" name="TextBox 40"/>
          <p:cNvSpPr txBox="1"/>
          <p:nvPr/>
        </p:nvSpPr>
        <p:spPr>
          <a:xfrm>
            <a:off x="8434431" y="2329610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Z</a:t>
            </a:r>
            <a:endParaRPr lang="en-US" sz="1200" dirty="0"/>
          </a:p>
        </p:txBody>
      </p:sp>
      <p:sp>
        <p:nvSpPr>
          <p:cNvPr id="67" name="TextBox 66"/>
          <p:cNvSpPr txBox="1"/>
          <p:nvPr/>
        </p:nvSpPr>
        <p:spPr>
          <a:xfrm>
            <a:off x="2967882" y="4261878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73</a:t>
            </a:r>
            <a:r>
              <a:rPr lang="en-US" sz="1200" dirty="0"/>
              <a:t> started supplementation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19325" y="425827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77</a:t>
            </a:r>
            <a:r>
              <a:rPr lang="en-US" sz="1200" dirty="0"/>
              <a:t> started supplementation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2836" y="4266668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79</a:t>
            </a:r>
            <a:r>
              <a:rPr lang="en-US" sz="1200" dirty="0"/>
              <a:t> started supplementation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12612" y="4611397"/>
            <a:ext cx="2248535" cy="90024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0</a:t>
            </a:r>
            <a:r>
              <a:rPr lang="en-US" sz="1050" dirty="0"/>
              <a:t> Under follow-up</a:t>
            </a:r>
          </a:p>
          <a:p>
            <a:r>
              <a:rPr lang="en-US" sz="1050" b="1" dirty="0"/>
              <a:t>0</a:t>
            </a:r>
            <a:r>
              <a:rPr lang="en-US" sz="1050" dirty="0"/>
              <a:t> Outcomes</a:t>
            </a:r>
          </a:p>
          <a:p>
            <a:r>
              <a:rPr lang="en-US" sz="1050" b="1" dirty="0"/>
              <a:t>5</a:t>
            </a:r>
            <a:r>
              <a:rPr lang="en-US" sz="1050" dirty="0"/>
              <a:t> Mid-pregnancy visits missed</a:t>
            </a:r>
          </a:p>
          <a:p>
            <a:r>
              <a:rPr lang="en-US" sz="1050" b="1" dirty="0"/>
              <a:t>1</a:t>
            </a:r>
            <a:r>
              <a:rPr lang="en-US" sz="1050" dirty="0"/>
              <a:t> Not met (up to 35 weeks GA)</a:t>
            </a:r>
          </a:p>
          <a:p>
            <a:r>
              <a:rPr lang="en-US" sz="1050" b="1" dirty="0"/>
              <a:t>4 </a:t>
            </a:r>
            <a:r>
              <a:rPr lang="en-US" sz="1050" dirty="0"/>
              <a:t>Refused visit/study participation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82510" y="4600725"/>
            <a:ext cx="2247480" cy="90024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1</a:t>
            </a:r>
            <a:r>
              <a:rPr lang="en-US" sz="1050" dirty="0"/>
              <a:t> Under follow-up</a:t>
            </a:r>
          </a:p>
          <a:p>
            <a:r>
              <a:rPr lang="en-US" sz="1050" b="1" dirty="0"/>
              <a:t>1</a:t>
            </a:r>
            <a:r>
              <a:rPr lang="en-US" sz="1050" dirty="0"/>
              <a:t> Outcome</a:t>
            </a:r>
          </a:p>
          <a:p>
            <a:r>
              <a:rPr lang="en-US" sz="1050" b="1" dirty="0"/>
              <a:t>4 </a:t>
            </a:r>
            <a:r>
              <a:rPr lang="en-US" sz="1050" dirty="0"/>
              <a:t>Mid-pregnancy visits missed</a:t>
            </a:r>
          </a:p>
          <a:p>
            <a:r>
              <a:rPr lang="en-US" sz="1050" b="1" dirty="0"/>
              <a:t>1</a:t>
            </a:r>
            <a:r>
              <a:rPr lang="en-US" sz="1050" dirty="0"/>
              <a:t> Not met (up to 35 weeks GA)</a:t>
            </a:r>
          </a:p>
          <a:p>
            <a:r>
              <a:rPr lang="en-US" sz="1050" b="1" dirty="0"/>
              <a:t>1 </a:t>
            </a:r>
            <a:r>
              <a:rPr lang="en-US" sz="1050" dirty="0"/>
              <a:t>Refused visit/study participation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72190" y="4608497"/>
            <a:ext cx="2200929" cy="90024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0</a:t>
            </a:r>
            <a:r>
              <a:rPr lang="en-US" sz="1050" dirty="0"/>
              <a:t> Under follow-up</a:t>
            </a:r>
          </a:p>
          <a:p>
            <a:r>
              <a:rPr lang="en-US" sz="1050" b="1" dirty="0"/>
              <a:t>1</a:t>
            </a:r>
            <a:r>
              <a:rPr lang="en-US" sz="1050" dirty="0"/>
              <a:t> Outcome</a:t>
            </a:r>
          </a:p>
          <a:p>
            <a:r>
              <a:rPr lang="en-US" sz="1050" b="1" dirty="0"/>
              <a:t>3</a:t>
            </a:r>
            <a:r>
              <a:rPr lang="en-US" sz="1050" dirty="0"/>
              <a:t> Mid-pregnancy visits missed</a:t>
            </a:r>
          </a:p>
          <a:p>
            <a:r>
              <a:rPr lang="en-US" sz="1050" b="1" dirty="0"/>
              <a:t>1</a:t>
            </a:r>
            <a:r>
              <a:rPr lang="en-US" sz="1050" dirty="0"/>
              <a:t> Not met (up to 35 weeks GA)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Refused visit/study participation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00569" y="4609902"/>
            <a:ext cx="2262363" cy="90024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2</a:t>
            </a:r>
            <a:r>
              <a:rPr lang="en-US" sz="1050" dirty="0"/>
              <a:t> Under follow-up</a:t>
            </a:r>
          </a:p>
          <a:p>
            <a:r>
              <a:rPr lang="en-US" sz="1050" b="1" dirty="0"/>
              <a:t>1</a:t>
            </a:r>
            <a:r>
              <a:rPr lang="en-US" sz="1050" dirty="0"/>
              <a:t> Outcome</a:t>
            </a:r>
          </a:p>
          <a:p>
            <a:r>
              <a:rPr lang="en-US" sz="1050" b="1" dirty="0"/>
              <a:t>6</a:t>
            </a:r>
            <a:r>
              <a:rPr lang="en-US" sz="1050" dirty="0"/>
              <a:t> Mid-pregnancy visits missed</a:t>
            </a:r>
          </a:p>
          <a:p>
            <a:r>
              <a:rPr lang="en-US" sz="1050" b="1" dirty="0"/>
              <a:t>2</a:t>
            </a:r>
            <a:r>
              <a:rPr lang="en-US" sz="1050" dirty="0"/>
              <a:t> Not met (up to 35 weeks GA)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Refused visit/study participation</a:t>
            </a:r>
          </a:p>
        </p:txBody>
      </p:sp>
      <p:cxnSp>
        <p:nvCxnSpPr>
          <p:cNvPr id="82" name="Straight Arrow Connector 81"/>
          <p:cNvCxnSpPr>
            <a:cxnSpLocks/>
          </p:cNvCxnSpPr>
          <p:nvPr/>
        </p:nvCxnSpPr>
        <p:spPr>
          <a:xfrm flipH="1">
            <a:off x="523227" y="4542039"/>
            <a:ext cx="2712" cy="114362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cxnSpLocks/>
          </p:cNvCxnSpPr>
          <p:nvPr/>
        </p:nvCxnSpPr>
        <p:spPr>
          <a:xfrm>
            <a:off x="3386493" y="4536380"/>
            <a:ext cx="12718" cy="117018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>
            <a:cxnSpLocks/>
          </p:cNvCxnSpPr>
          <p:nvPr/>
        </p:nvCxnSpPr>
        <p:spPr>
          <a:xfrm>
            <a:off x="6264196" y="4534428"/>
            <a:ext cx="0" cy="118336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>
            <a:cxnSpLocks/>
          </p:cNvCxnSpPr>
          <p:nvPr/>
        </p:nvCxnSpPr>
        <p:spPr>
          <a:xfrm flipH="1">
            <a:off x="9111183" y="4543023"/>
            <a:ext cx="1" cy="113261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>
            <a:off x="516595" y="4977354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/>
          <p:nvPr/>
        </p:nvCxnSpPr>
        <p:spPr>
          <a:xfrm>
            <a:off x="3386191" y="4977518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/>
          <p:nvPr/>
        </p:nvCxnSpPr>
        <p:spPr>
          <a:xfrm>
            <a:off x="6269335" y="4982147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/>
          <p:nvPr/>
        </p:nvCxnSpPr>
        <p:spPr>
          <a:xfrm>
            <a:off x="9104449" y="4975568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106837" y="5691576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61</a:t>
            </a:r>
            <a:r>
              <a:rPr lang="en-US" sz="1200" dirty="0"/>
              <a:t> mid-pregnancy visits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977226" y="5717788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65 </a:t>
            </a:r>
            <a:r>
              <a:rPr lang="en-US" sz="1200" dirty="0"/>
              <a:t>mid-pregnancy visits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828862" y="572329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72 </a:t>
            </a:r>
            <a:r>
              <a:rPr lang="en-US" sz="1200" dirty="0"/>
              <a:t>mid-pregnancy visits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689571" y="5695886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68</a:t>
            </a:r>
            <a:r>
              <a:rPr lang="en-US" sz="1200" dirty="0"/>
              <a:t> mid-pregnancy visits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7493" y="7306074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54</a:t>
            </a:r>
            <a:r>
              <a:rPr lang="en-US" sz="1200" dirty="0"/>
              <a:t> late pregnancy visits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967882" y="729699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54</a:t>
            </a:r>
            <a:r>
              <a:rPr lang="en-US" sz="1200" dirty="0"/>
              <a:t> late pregnancy visits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831200" y="729338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63 </a:t>
            </a:r>
            <a:r>
              <a:rPr lang="en-US" sz="1200" dirty="0"/>
              <a:t>late pregnancy visits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682836" y="730178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59</a:t>
            </a:r>
            <a:r>
              <a:rPr lang="en-US" sz="1200" dirty="0"/>
              <a:t> late pregnancy visits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7493" y="8118365"/>
            <a:ext cx="2248669" cy="4616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47</a:t>
            </a:r>
            <a:r>
              <a:rPr lang="en-US" sz="1200" dirty="0"/>
              <a:t> live born infants</a:t>
            </a:r>
          </a:p>
          <a:p>
            <a:pPr algn="ctr"/>
            <a:r>
              <a:rPr lang="en-US" sz="1200" b="1" dirty="0"/>
              <a:t>1</a:t>
            </a:r>
            <a:r>
              <a:rPr lang="en-US" sz="1200" dirty="0"/>
              <a:t> still born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977226" y="8117879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49</a:t>
            </a:r>
            <a:r>
              <a:rPr lang="en-US" sz="1200" dirty="0"/>
              <a:t> live born infants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831199" y="8114272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58</a:t>
            </a:r>
            <a:r>
              <a:rPr lang="en-US" sz="1200" dirty="0"/>
              <a:t> live born infants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682836" y="8114075"/>
            <a:ext cx="2248669" cy="4616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51</a:t>
            </a:r>
            <a:r>
              <a:rPr lang="en-US" sz="1200" dirty="0"/>
              <a:t> live born infants</a:t>
            </a:r>
          </a:p>
          <a:p>
            <a:pPr algn="ctr"/>
            <a:r>
              <a:rPr lang="en-US" sz="1200" b="1" dirty="0"/>
              <a:t>1</a:t>
            </a:r>
            <a:r>
              <a:rPr lang="en-US" sz="1200" dirty="0"/>
              <a:t> still born infant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21955" y="7717332"/>
            <a:ext cx="2239192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6 </a:t>
            </a:r>
            <a:r>
              <a:rPr lang="en-US" sz="1050" dirty="0"/>
              <a:t>Pending outcome</a:t>
            </a:r>
          </a:p>
        </p:txBody>
      </p:sp>
      <p:cxnSp>
        <p:nvCxnSpPr>
          <p:cNvPr id="140" name="Straight Arrow Connector 139"/>
          <p:cNvCxnSpPr>
            <a:cxnSpLocks/>
          </p:cNvCxnSpPr>
          <p:nvPr/>
        </p:nvCxnSpPr>
        <p:spPr>
          <a:xfrm>
            <a:off x="525938" y="7577156"/>
            <a:ext cx="0" cy="52137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>
            <a:cxnSpLocks/>
            <a:endCxn id="132" idx="1"/>
          </p:cNvCxnSpPr>
          <p:nvPr/>
        </p:nvCxnSpPr>
        <p:spPr>
          <a:xfrm flipV="1">
            <a:off x="524821" y="7844290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163"/>
          <p:cNvSpPr txBox="1"/>
          <p:nvPr/>
        </p:nvSpPr>
        <p:spPr>
          <a:xfrm>
            <a:off x="3584475" y="7711859"/>
            <a:ext cx="2248668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5</a:t>
            </a:r>
            <a:r>
              <a:rPr lang="en-US" sz="1050" dirty="0"/>
              <a:t> Pending outcome</a:t>
            </a:r>
          </a:p>
        </p:txBody>
      </p:sp>
      <p:cxnSp>
        <p:nvCxnSpPr>
          <p:cNvPr id="165" name="Straight Arrow Connector 164"/>
          <p:cNvCxnSpPr>
            <a:cxnSpLocks/>
          </p:cNvCxnSpPr>
          <p:nvPr/>
        </p:nvCxnSpPr>
        <p:spPr>
          <a:xfrm flipH="1">
            <a:off x="3381052" y="7571496"/>
            <a:ext cx="5440" cy="52703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>
            <a:cxnSpLocks/>
            <a:endCxn id="164" idx="1"/>
          </p:cNvCxnSpPr>
          <p:nvPr/>
        </p:nvCxnSpPr>
        <p:spPr>
          <a:xfrm flipV="1">
            <a:off x="3387341" y="7838817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>
            <a:off x="6468000" y="7718316"/>
            <a:ext cx="2210644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5</a:t>
            </a:r>
            <a:r>
              <a:rPr lang="en-US" sz="1050" dirty="0"/>
              <a:t> Pending outcome</a:t>
            </a:r>
          </a:p>
        </p:txBody>
      </p:sp>
      <p:cxnSp>
        <p:nvCxnSpPr>
          <p:cNvPr id="168" name="Straight Arrow Connector 167"/>
          <p:cNvCxnSpPr>
            <a:cxnSpLocks/>
          </p:cNvCxnSpPr>
          <p:nvPr/>
        </p:nvCxnSpPr>
        <p:spPr>
          <a:xfrm>
            <a:off x="6276071" y="7569544"/>
            <a:ext cx="0" cy="52898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/>
          <p:cNvCxnSpPr>
            <a:cxnSpLocks/>
            <a:endCxn id="167" idx="1"/>
          </p:cNvCxnSpPr>
          <p:nvPr/>
        </p:nvCxnSpPr>
        <p:spPr>
          <a:xfrm flipV="1">
            <a:off x="6270866" y="7845274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TextBox 169"/>
          <p:cNvSpPr txBox="1"/>
          <p:nvPr/>
        </p:nvSpPr>
        <p:spPr>
          <a:xfrm>
            <a:off x="9304770" y="7718317"/>
            <a:ext cx="2258162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/>
              <a:t> </a:t>
            </a:r>
            <a:r>
              <a:rPr lang="en-US" sz="1050" b="1" dirty="0"/>
              <a:t>7</a:t>
            </a:r>
            <a:r>
              <a:rPr lang="en-US" sz="1050" dirty="0"/>
              <a:t> Pending outcome</a:t>
            </a:r>
          </a:p>
        </p:txBody>
      </p:sp>
      <p:cxnSp>
        <p:nvCxnSpPr>
          <p:cNvPr id="171" name="Straight Arrow Connector 170"/>
          <p:cNvCxnSpPr>
            <a:cxnSpLocks/>
          </p:cNvCxnSpPr>
          <p:nvPr/>
        </p:nvCxnSpPr>
        <p:spPr>
          <a:xfrm flipH="1">
            <a:off x="9107636" y="7578139"/>
            <a:ext cx="3547" cy="52039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/>
          <p:cNvCxnSpPr>
            <a:cxnSpLocks/>
            <a:endCxn id="170" idx="1"/>
          </p:cNvCxnSpPr>
          <p:nvPr/>
        </p:nvCxnSpPr>
        <p:spPr>
          <a:xfrm flipV="1">
            <a:off x="9107636" y="7845275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/>
          <p:cNvCxnSpPr>
            <a:cxnSpLocks/>
            <a:stCxn id="4" idx="2"/>
            <a:endCxn id="11" idx="0"/>
          </p:cNvCxnSpPr>
          <p:nvPr/>
        </p:nvCxnSpPr>
        <p:spPr>
          <a:xfrm>
            <a:off x="5580648" y="763860"/>
            <a:ext cx="0" cy="11223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/>
          <p:cNvCxnSpPr>
            <a:stCxn id="11" idx="2"/>
            <a:endCxn id="15" idx="0"/>
          </p:cNvCxnSpPr>
          <p:nvPr/>
        </p:nvCxnSpPr>
        <p:spPr>
          <a:xfrm>
            <a:off x="5580648" y="1153093"/>
            <a:ext cx="0" cy="10023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/>
          <p:cNvCxnSpPr>
            <a:stCxn id="15" idx="2"/>
            <a:endCxn id="37" idx="0"/>
          </p:cNvCxnSpPr>
          <p:nvPr/>
        </p:nvCxnSpPr>
        <p:spPr>
          <a:xfrm>
            <a:off x="5580648" y="1530326"/>
            <a:ext cx="0" cy="20832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/>
          <p:cNvCxnSpPr>
            <a:stCxn id="37" idx="3"/>
          </p:cNvCxnSpPr>
          <p:nvPr/>
        </p:nvCxnSpPr>
        <p:spPr>
          <a:xfrm flipH="1">
            <a:off x="1934175" y="2153082"/>
            <a:ext cx="2477182" cy="4298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 flipH="1">
            <a:off x="4765920" y="2211507"/>
            <a:ext cx="490008" cy="3801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/>
          <p:cNvCxnSpPr/>
          <p:nvPr/>
        </p:nvCxnSpPr>
        <p:spPr>
          <a:xfrm>
            <a:off x="5993242" y="2213038"/>
            <a:ext cx="434613" cy="36865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/>
          <p:cNvCxnSpPr>
            <a:stCxn id="37" idx="5"/>
          </p:cNvCxnSpPr>
          <p:nvPr/>
        </p:nvCxnSpPr>
        <p:spPr>
          <a:xfrm>
            <a:off x="6749939" y="2153082"/>
            <a:ext cx="2331662" cy="41426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TextBox 191"/>
          <p:cNvSpPr txBox="1"/>
          <p:nvPr/>
        </p:nvSpPr>
        <p:spPr>
          <a:xfrm>
            <a:off x="11439993" y="2319381"/>
            <a:ext cx="829564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TOTAL</a:t>
            </a:r>
            <a:endParaRPr lang="en-US" sz="1200" dirty="0"/>
          </a:p>
        </p:txBody>
      </p:sp>
      <p:sp>
        <p:nvSpPr>
          <p:cNvPr id="193" name="TextBox 192"/>
          <p:cNvSpPr txBox="1"/>
          <p:nvPr/>
        </p:nvSpPr>
        <p:spPr>
          <a:xfrm>
            <a:off x="11639959" y="2566302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354</a:t>
            </a:r>
            <a:endParaRPr lang="en-US" sz="1200" dirty="0"/>
          </a:p>
        </p:txBody>
      </p:sp>
      <p:sp>
        <p:nvSpPr>
          <p:cNvPr id="194" name="TextBox 193"/>
          <p:cNvSpPr txBox="1"/>
          <p:nvPr/>
        </p:nvSpPr>
        <p:spPr>
          <a:xfrm>
            <a:off x="11657154" y="4260627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301</a:t>
            </a:r>
            <a:endParaRPr lang="en-US" sz="1200" dirty="0"/>
          </a:p>
        </p:txBody>
      </p:sp>
      <p:sp>
        <p:nvSpPr>
          <p:cNvPr id="195" name="TextBox 194"/>
          <p:cNvSpPr txBox="1"/>
          <p:nvPr/>
        </p:nvSpPr>
        <p:spPr>
          <a:xfrm>
            <a:off x="11673233" y="5707519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266</a:t>
            </a:r>
            <a:endParaRPr lang="en-US" sz="1200" dirty="0"/>
          </a:p>
        </p:txBody>
      </p:sp>
      <p:sp>
        <p:nvSpPr>
          <p:cNvPr id="196" name="TextBox 195"/>
          <p:cNvSpPr txBox="1"/>
          <p:nvPr/>
        </p:nvSpPr>
        <p:spPr>
          <a:xfrm>
            <a:off x="11666498" y="7277485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230</a:t>
            </a:r>
            <a:endParaRPr lang="en-US" sz="1200" dirty="0"/>
          </a:p>
        </p:txBody>
      </p:sp>
      <p:sp>
        <p:nvSpPr>
          <p:cNvPr id="197" name="TextBox 196"/>
          <p:cNvSpPr txBox="1"/>
          <p:nvPr/>
        </p:nvSpPr>
        <p:spPr>
          <a:xfrm>
            <a:off x="11666498" y="8098529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207</a:t>
            </a:r>
            <a:endParaRPr lang="en-US" sz="1200" dirty="0"/>
          </a:p>
        </p:txBody>
      </p:sp>
      <p:cxnSp>
        <p:nvCxnSpPr>
          <p:cNvPr id="284" name="Straight Arrow Connector 283"/>
          <p:cNvCxnSpPr/>
          <p:nvPr/>
        </p:nvCxnSpPr>
        <p:spPr>
          <a:xfrm>
            <a:off x="5580649" y="1632611"/>
            <a:ext cx="2134579" cy="548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Arrow Connector 287"/>
          <p:cNvCxnSpPr>
            <a:cxnSpLocks/>
          </p:cNvCxnSpPr>
          <p:nvPr/>
        </p:nvCxnSpPr>
        <p:spPr>
          <a:xfrm flipH="1">
            <a:off x="531254" y="5984518"/>
            <a:ext cx="1420" cy="130886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Arrow Connector 289"/>
          <p:cNvCxnSpPr>
            <a:cxnSpLocks/>
          </p:cNvCxnSpPr>
          <p:nvPr/>
        </p:nvCxnSpPr>
        <p:spPr>
          <a:xfrm flipH="1">
            <a:off x="3386191" y="5992290"/>
            <a:ext cx="9646" cy="128519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Arrow Connector 291"/>
          <p:cNvCxnSpPr>
            <a:cxnSpLocks/>
          </p:cNvCxnSpPr>
          <p:nvPr/>
        </p:nvCxnSpPr>
        <p:spPr>
          <a:xfrm flipH="1">
            <a:off x="6270866" y="5994787"/>
            <a:ext cx="2867" cy="129860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Arrow Connector 293"/>
          <p:cNvCxnSpPr>
            <a:cxnSpLocks/>
          </p:cNvCxnSpPr>
          <p:nvPr/>
        </p:nvCxnSpPr>
        <p:spPr>
          <a:xfrm flipH="1">
            <a:off x="9111183" y="5972241"/>
            <a:ext cx="6736" cy="130524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tle 1"/>
          <p:cNvSpPr txBox="1"/>
          <p:nvPr/>
        </p:nvSpPr>
        <p:spPr bwMode="auto">
          <a:xfrm>
            <a:off x="396448" y="724604"/>
            <a:ext cx="1733685" cy="107044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r>
              <a:rPr lang="en-GB" sz="3200" b="0" kern="0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PW Trial Consort</a:t>
            </a:r>
            <a:endParaRPr lang="en-US" sz="3200" kern="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6B7BF97-FD29-4B8E-84DF-E115D1549723}"/>
              </a:ext>
            </a:extLst>
          </p:cNvPr>
          <p:cNvSpPr txBox="1"/>
          <p:nvPr/>
        </p:nvSpPr>
        <p:spPr>
          <a:xfrm>
            <a:off x="772031" y="6102453"/>
            <a:ext cx="2205195" cy="90024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7</a:t>
            </a:r>
            <a:r>
              <a:rPr lang="en-US" sz="1050" dirty="0"/>
              <a:t> Under follow-up</a:t>
            </a:r>
          </a:p>
          <a:p>
            <a:r>
              <a:rPr lang="en-US" sz="1050" b="1" dirty="0"/>
              <a:t>4</a:t>
            </a:r>
            <a:r>
              <a:rPr lang="en-US" sz="1050" dirty="0"/>
              <a:t> Outcomes</a:t>
            </a:r>
          </a:p>
          <a:p>
            <a:r>
              <a:rPr lang="en-US" sz="1050" b="1" dirty="0"/>
              <a:t>3</a:t>
            </a:r>
            <a:r>
              <a:rPr lang="en-US" sz="1050" dirty="0"/>
              <a:t> Not met (up to any outcome)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Discontinued (PX)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Refused visit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1615B3A-3FBA-41A3-9641-481CD0C6BE52}"/>
              </a:ext>
            </a:extLst>
          </p:cNvPr>
          <p:cNvSpPr txBox="1"/>
          <p:nvPr/>
        </p:nvSpPr>
        <p:spPr>
          <a:xfrm>
            <a:off x="3641929" y="6102638"/>
            <a:ext cx="2193475" cy="90024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dirty="0">
                <a:solidFill>
                  <a:srgbClr val="000000"/>
                </a:solidFill>
                <a:latin typeface="Aptos (Body)"/>
              </a:rPr>
              <a:t>9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Under follow-up</a:t>
            </a:r>
          </a:p>
          <a:p>
            <a:r>
              <a:rPr lang="en-US" sz="1050" b="1" dirty="0"/>
              <a:t>2</a:t>
            </a:r>
            <a:r>
              <a:rPr lang="en-US" sz="1050" dirty="0"/>
              <a:t> Outcomes</a:t>
            </a:r>
          </a:p>
          <a:p>
            <a:r>
              <a:rPr lang="en-US" sz="1050" b="1" dirty="0"/>
              <a:t>3</a:t>
            </a:r>
            <a:r>
              <a:rPr lang="en-US" sz="1050" dirty="0"/>
              <a:t> Not met (up to any outcome)</a:t>
            </a:r>
          </a:p>
          <a:p>
            <a:r>
              <a:rPr lang="en-US" sz="1050" b="1" dirty="0"/>
              <a:t>1 </a:t>
            </a:r>
            <a:r>
              <a:rPr lang="en-US" sz="1050" dirty="0"/>
              <a:t>Discontinued (PX)</a:t>
            </a:r>
          </a:p>
          <a:p>
            <a:r>
              <a:rPr lang="en-US" sz="1050" b="1" dirty="0"/>
              <a:t>1 </a:t>
            </a:r>
            <a:r>
              <a:rPr lang="en-US" sz="1050" dirty="0"/>
              <a:t>Refused visit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EA6597A6-3B92-4EBD-9626-A72B2B148FA0}"/>
              </a:ext>
            </a:extLst>
          </p:cNvPr>
          <p:cNvSpPr txBox="1"/>
          <p:nvPr/>
        </p:nvSpPr>
        <p:spPr>
          <a:xfrm>
            <a:off x="6531507" y="6097895"/>
            <a:ext cx="2167408" cy="90024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dirty="0">
                <a:solidFill>
                  <a:srgbClr val="000000"/>
                </a:solidFill>
                <a:latin typeface="Aptos (Body)"/>
              </a:rPr>
              <a:t>9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Under follow-up</a:t>
            </a:r>
          </a:p>
          <a:p>
            <a:r>
              <a:rPr lang="en-US" sz="1050" b="1" dirty="0"/>
              <a:t>3</a:t>
            </a:r>
            <a:r>
              <a:rPr lang="en-US" sz="1050" dirty="0"/>
              <a:t> Outcomes</a:t>
            </a:r>
          </a:p>
          <a:p>
            <a:r>
              <a:rPr lang="en-US" sz="1050" b="1" dirty="0"/>
              <a:t>1</a:t>
            </a:r>
            <a:r>
              <a:rPr lang="en-US" sz="1050" dirty="0"/>
              <a:t> Not met (up to any outcome)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Discontinued (PX)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Refused visit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C374FDB-5D21-4B43-8585-B1F0B70ED270}"/>
              </a:ext>
            </a:extLst>
          </p:cNvPr>
          <p:cNvSpPr txBox="1"/>
          <p:nvPr/>
        </p:nvSpPr>
        <p:spPr>
          <a:xfrm>
            <a:off x="9366620" y="6099580"/>
            <a:ext cx="2212391" cy="90024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dirty="0">
                <a:solidFill>
                  <a:srgbClr val="000000"/>
                </a:solidFill>
                <a:latin typeface="Aptos (Body)"/>
              </a:rPr>
              <a:t>7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Under follow-up</a:t>
            </a:r>
          </a:p>
          <a:p>
            <a:r>
              <a:rPr lang="en-US" sz="1050" b="1" dirty="0"/>
              <a:t>6</a:t>
            </a:r>
            <a:r>
              <a:rPr lang="en-US" sz="1050" dirty="0"/>
              <a:t> Outcomes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4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Not met (up to any outcome)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Discontinued (PX)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Refused visit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3AA2308-8AFA-414D-842E-F6D8EF318E66}"/>
              </a:ext>
            </a:extLst>
          </p:cNvPr>
          <p:cNvCxnSpPr>
            <a:cxnSpLocks/>
          </p:cNvCxnSpPr>
          <p:nvPr/>
        </p:nvCxnSpPr>
        <p:spPr>
          <a:xfrm>
            <a:off x="539409" y="6324459"/>
            <a:ext cx="23935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0ABB39CE-962E-427E-9B8F-859A250300E6}"/>
              </a:ext>
            </a:extLst>
          </p:cNvPr>
          <p:cNvCxnSpPr>
            <a:cxnSpLocks/>
          </p:cNvCxnSpPr>
          <p:nvPr/>
        </p:nvCxnSpPr>
        <p:spPr>
          <a:xfrm flipV="1">
            <a:off x="3409005" y="6324623"/>
            <a:ext cx="232924" cy="297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CD584E24-4042-49B1-8EFC-AB485CA2AE56}"/>
              </a:ext>
            </a:extLst>
          </p:cNvPr>
          <p:cNvCxnSpPr>
            <a:cxnSpLocks/>
          </p:cNvCxnSpPr>
          <p:nvPr/>
        </p:nvCxnSpPr>
        <p:spPr>
          <a:xfrm>
            <a:off x="6286945" y="6329252"/>
            <a:ext cx="244562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F5A5EEAF-8B6D-44B4-8862-ECB5EA397540}"/>
              </a:ext>
            </a:extLst>
          </p:cNvPr>
          <p:cNvCxnSpPr>
            <a:cxnSpLocks/>
          </p:cNvCxnSpPr>
          <p:nvPr/>
        </p:nvCxnSpPr>
        <p:spPr>
          <a:xfrm flipV="1">
            <a:off x="9132578" y="6322673"/>
            <a:ext cx="234042" cy="380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9256</TotalTime>
  <Words>452</Words>
  <Application>Microsoft Office PowerPoint</Application>
  <PresentationFormat>Custom</PresentationFormat>
  <Paragraphs>106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(Body)</vt:lpstr>
      <vt:lpstr>Aptos Display</vt:lpstr>
      <vt:lpstr>Arial</vt:lpstr>
      <vt:lpstr>Tahoma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Eleonor Zavala</dc:creator>
  <cp:lastModifiedBy>Brian Dyer</cp:lastModifiedBy>
  <cp:revision>33</cp:revision>
  <dcterms:created xsi:type="dcterms:W3CDTF">2024-04-26T15:51:54Z</dcterms:created>
  <dcterms:modified xsi:type="dcterms:W3CDTF">2024-12-14T14:02:28Z</dcterms:modified>
</cp:coreProperties>
</file>