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3" r:id="rId2"/>
    <p:sldId id="314" r:id="rId3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37" autoAdjust="0"/>
  </p:normalViewPr>
  <p:slideViewPr>
    <p:cSldViewPr snapToGrid="0">
      <p:cViewPr>
        <p:scale>
          <a:sx n="86" d="100"/>
          <a:sy n="86" d="100"/>
        </p:scale>
        <p:origin x="1488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2C269-3774-FF84-6D4C-5826D9E6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3165B-97D2-1B27-D2E5-44B783A0D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4D126-ECA1-7614-A4D5-C746E0EBD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0D47B-47AB-D3DB-9859-B2C1476A7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43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84909" y="486861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0883" y="876095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883" y="1253328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93" y="2586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7883" y="25860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9325" y="258622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2836" y="257944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7" y="441141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15227" y="1264439"/>
            <a:ext cx="320161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260 </a:t>
            </a:r>
            <a:r>
              <a:rPr lang="en-US" sz="1200" dirty="0"/>
              <a:t>Ineligible, gestational age &gt;=16 weeks</a:t>
            </a:r>
            <a:endParaRPr lang="en-US" sz="1200" b="1" dirty="0"/>
          </a:p>
          <a:p>
            <a:r>
              <a:rPr lang="en-US" sz="1200" b="1" dirty="0"/>
              <a:t>11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35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766" y="2933414"/>
            <a:ext cx="224866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biospecimen collection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Ultrasound*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76275" y="2930356"/>
            <a:ext cx="224839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66876" y="2928403"/>
            <a:ext cx="2210644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Refused supplementation/not met</a:t>
            </a:r>
            <a:endParaRPr lang="en-US" sz="1050" i="0" dirty="0">
              <a:solidFill>
                <a:srgbClr val="000000"/>
              </a:solidFill>
              <a:effectLst/>
              <a:latin typeface="Aptos (Body)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301988" y="2928403"/>
            <a:ext cx="2255628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5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cxnSp>
        <p:nvCxnSpPr>
          <p:cNvPr id="101" name="Straight Arrow Connector 100"/>
          <p:cNvCxnSpPr>
            <a:cxnSpLocks/>
          </p:cNvCxnSpPr>
          <p:nvPr/>
        </p:nvCxnSpPr>
        <p:spPr>
          <a:xfrm flipH="1">
            <a:off x="520622" y="2857588"/>
            <a:ext cx="5316" cy="15479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cxnSpLocks/>
          </p:cNvCxnSpPr>
          <p:nvPr/>
        </p:nvCxnSpPr>
        <p:spPr>
          <a:xfrm flipH="1">
            <a:off x="3381177" y="2860587"/>
            <a:ext cx="5317" cy="153925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cxnSpLocks/>
          </p:cNvCxnSpPr>
          <p:nvPr/>
        </p:nvCxnSpPr>
        <p:spPr>
          <a:xfrm flipH="1">
            <a:off x="6258880" y="2862382"/>
            <a:ext cx="5316" cy="15355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cxnSpLocks/>
          </p:cNvCxnSpPr>
          <p:nvPr/>
        </p:nvCxnSpPr>
        <p:spPr>
          <a:xfrm flipH="1">
            <a:off x="9105867" y="2855802"/>
            <a:ext cx="5316" cy="15506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518014" y="330080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3387610" y="330096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270754" y="330559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105868" y="329901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27021" y="1738651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100094" y="233943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59435" y="23149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66221" y="233196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34431" y="232961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62566" y="440233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73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4009" y="439872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77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77520" y="440712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7296" y="4751854"/>
            <a:ext cx="2248535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5</a:t>
            </a:r>
            <a:r>
              <a:rPr lang="en-US" sz="1050" dirty="0"/>
              <a:t> Mid-pregnancy visits cancelled due to delay in supplementation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4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77194" y="4741182"/>
            <a:ext cx="2247480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4 </a:t>
            </a:r>
            <a:r>
              <a:rPr lang="en-US" sz="1050" dirty="0"/>
              <a:t>Mid-pregnancy visits cancelled due to delay in supplementation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6874" y="4748954"/>
            <a:ext cx="220092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3</a:t>
            </a:r>
            <a:r>
              <a:rPr lang="en-US" sz="1050" dirty="0"/>
              <a:t> Mid-pregnancy visits cancelled due to delay in supplementation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95253" y="4750359"/>
            <a:ext cx="2262363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6</a:t>
            </a:r>
            <a:r>
              <a:rPr lang="en-US" sz="1050" dirty="0"/>
              <a:t> Mid-pregnancy visits cancelled due to delay in supplementation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cxnSp>
        <p:nvCxnSpPr>
          <p:cNvPr id="82" name="Straight Arrow Connector 81"/>
          <p:cNvCxnSpPr>
            <a:cxnSpLocks/>
          </p:cNvCxnSpPr>
          <p:nvPr/>
        </p:nvCxnSpPr>
        <p:spPr>
          <a:xfrm flipH="1">
            <a:off x="513888" y="4682496"/>
            <a:ext cx="6735" cy="131457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cxnSpLocks/>
          </p:cNvCxnSpPr>
          <p:nvPr/>
        </p:nvCxnSpPr>
        <p:spPr>
          <a:xfrm flipH="1">
            <a:off x="3374442" y="4676837"/>
            <a:ext cx="6735" cy="13498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cxnSpLocks/>
          </p:cNvCxnSpPr>
          <p:nvPr/>
        </p:nvCxnSpPr>
        <p:spPr>
          <a:xfrm flipH="1">
            <a:off x="6252338" y="4674885"/>
            <a:ext cx="6542" cy="13589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cxnSpLocks/>
          </p:cNvCxnSpPr>
          <p:nvPr/>
        </p:nvCxnSpPr>
        <p:spPr>
          <a:xfrm flipH="1">
            <a:off x="9096524" y="4683480"/>
            <a:ext cx="9344" cy="13231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511279" y="511781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3380875" y="5117975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264019" y="512260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099133" y="511602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5442" y="600299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55831" y="60292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07467" y="603470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68176" y="60073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64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2177" y="73120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41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62566" y="73029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25884" y="729932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50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77520" y="73077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44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2177" y="804608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71910" y="804559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36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25883" y="804198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77520" y="804179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37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6639" y="7645049"/>
            <a:ext cx="223919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cxnSpLocks/>
          </p:cNvCxnSpPr>
          <p:nvPr/>
        </p:nvCxnSpPr>
        <p:spPr>
          <a:xfrm>
            <a:off x="520622" y="7583092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cxnSpLocks/>
            <a:endCxn id="132" idx="1"/>
          </p:cNvCxnSpPr>
          <p:nvPr/>
        </p:nvCxnSpPr>
        <p:spPr>
          <a:xfrm flipV="1">
            <a:off x="519505" y="7772007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3579159" y="7639576"/>
            <a:ext cx="2248668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/>
          <p:cNvCxnSpPr>
            <a:cxnSpLocks/>
          </p:cNvCxnSpPr>
          <p:nvPr/>
        </p:nvCxnSpPr>
        <p:spPr>
          <a:xfrm>
            <a:off x="3381176" y="7577432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cxnSpLocks/>
            <a:endCxn id="164" idx="1"/>
          </p:cNvCxnSpPr>
          <p:nvPr/>
        </p:nvCxnSpPr>
        <p:spPr>
          <a:xfrm flipV="1">
            <a:off x="3382025" y="7766534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6462684" y="7646033"/>
            <a:ext cx="221064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11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cxnSpLocks/>
          </p:cNvCxnSpPr>
          <p:nvPr/>
        </p:nvCxnSpPr>
        <p:spPr>
          <a:xfrm flipH="1">
            <a:off x="6266668" y="7575480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cxnSpLocks/>
            <a:endCxn id="167" idx="1"/>
          </p:cNvCxnSpPr>
          <p:nvPr/>
        </p:nvCxnSpPr>
        <p:spPr>
          <a:xfrm flipV="1">
            <a:off x="6265550" y="7772991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299454" y="7646034"/>
            <a:ext cx="225816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cxnSpLocks/>
          </p:cNvCxnSpPr>
          <p:nvPr/>
        </p:nvCxnSpPr>
        <p:spPr>
          <a:xfrm flipH="1">
            <a:off x="9103437" y="7584075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102320" y="7772992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80648" y="763860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80648" y="1153093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80648" y="1530326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34175" y="215308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65920" y="221150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5993242" y="2213038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49939" y="215308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39993" y="2319381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39959" y="256630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354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51838" y="4401084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301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51838" y="601893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246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61182" y="728342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178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61182" y="8026246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147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80649" y="1632611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cxnSpLocks/>
          </p:cNvCxnSpPr>
          <p:nvPr/>
        </p:nvCxnSpPr>
        <p:spPr>
          <a:xfrm>
            <a:off x="511279" y="6295932"/>
            <a:ext cx="9344" cy="101016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cxnSpLocks/>
          </p:cNvCxnSpPr>
          <p:nvPr/>
        </p:nvCxnSpPr>
        <p:spPr>
          <a:xfrm>
            <a:off x="3374442" y="6303704"/>
            <a:ext cx="6735" cy="99673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cxnSpLocks/>
          </p:cNvCxnSpPr>
          <p:nvPr/>
        </p:nvCxnSpPr>
        <p:spPr>
          <a:xfrm>
            <a:off x="6252338" y="6306201"/>
            <a:ext cx="18417" cy="99228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cxnSpLocks/>
          </p:cNvCxnSpPr>
          <p:nvPr/>
        </p:nvCxnSpPr>
        <p:spPr>
          <a:xfrm>
            <a:off x="9096524" y="6283655"/>
            <a:ext cx="9344" cy="10234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396448" y="724604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750636" y="6413867"/>
            <a:ext cx="2205195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3620534" y="6414052"/>
            <a:ext cx="2193475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14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6510112" y="6409309"/>
            <a:ext cx="2167408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9345225" y="6410994"/>
            <a:ext cx="2212391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6</a:t>
            </a:r>
            <a:r>
              <a:rPr lang="en-US" sz="1050" dirty="0"/>
              <a:t> Outcomes</a:t>
            </a:r>
          </a:p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518014" y="6635873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3387610" y="6636037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265550" y="6640666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111183" y="6634087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3F1A-74F7-03E9-76B8-024C53A0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FC033FB-F34C-C8AB-DFB6-AEE33FEB2804}"/>
              </a:ext>
            </a:extLst>
          </p:cNvPr>
          <p:cNvCxnSpPr>
            <a:cxnSpLocks/>
          </p:cNvCxnSpPr>
          <p:nvPr/>
        </p:nvCxnSpPr>
        <p:spPr>
          <a:xfrm rot="5400000">
            <a:off x="1958076" y="6602506"/>
            <a:ext cx="1257092" cy="9276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D1D3175-3C58-9E8D-90FB-AD3312507294}"/>
              </a:ext>
            </a:extLst>
          </p:cNvPr>
          <p:cNvSpPr txBox="1"/>
          <p:nvPr/>
        </p:nvSpPr>
        <p:spPr>
          <a:xfrm>
            <a:off x="2584909" y="486861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DD64B-C21C-3FA2-142F-950700AC789C}"/>
              </a:ext>
            </a:extLst>
          </p:cNvPr>
          <p:cNvSpPr txBox="1"/>
          <p:nvPr/>
        </p:nvSpPr>
        <p:spPr>
          <a:xfrm>
            <a:off x="3860883" y="876095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DF4632-EF16-876E-94BD-106CBE488D3D}"/>
              </a:ext>
            </a:extLst>
          </p:cNvPr>
          <p:cNvSpPr txBox="1"/>
          <p:nvPr/>
        </p:nvSpPr>
        <p:spPr>
          <a:xfrm>
            <a:off x="3860883" y="1253328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8E16F4-E901-2E58-33C0-83C2A7872458}"/>
              </a:ext>
            </a:extLst>
          </p:cNvPr>
          <p:cNvSpPr txBox="1"/>
          <p:nvPr/>
        </p:nvSpPr>
        <p:spPr>
          <a:xfrm>
            <a:off x="97493" y="2586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AA4B3A-4CE5-DA68-20CF-6B85CE107D0A}"/>
              </a:ext>
            </a:extLst>
          </p:cNvPr>
          <p:cNvSpPr txBox="1"/>
          <p:nvPr/>
        </p:nvSpPr>
        <p:spPr>
          <a:xfrm>
            <a:off x="2967883" y="25860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4EEF2F-D7B5-D233-1146-6A47CEE1E1C7}"/>
              </a:ext>
            </a:extLst>
          </p:cNvPr>
          <p:cNvSpPr txBox="1"/>
          <p:nvPr/>
        </p:nvSpPr>
        <p:spPr>
          <a:xfrm>
            <a:off x="5819325" y="258622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E2A4D6-D6B7-AA10-40AB-1C4F436D9D73}"/>
              </a:ext>
            </a:extLst>
          </p:cNvPr>
          <p:cNvSpPr txBox="1"/>
          <p:nvPr/>
        </p:nvSpPr>
        <p:spPr>
          <a:xfrm>
            <a:off x="8682836" y="257944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66D92A-F395-CA81-FA6F-0967F6273532}"/>
              </a:ext>
            </a:extLst>
          </p:cNvPr>
          <p:cNvSpPr txBox="1"/>
          <p:nvPr/>
        </p:nvSpPr>
        <p:spPr>
          <a:xfrm>
            <a:off x="92177" y="441141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9F3092-37C5-B2FF-617E-E8907B000380}"/>
              </a:ext>
            </a:extLst>
          </p:cNvPr>
          <p:cNvSpPr txBox="1"/>
          <p:nvPr/>
        </p:nvSpPr>
        <p:spPr>
          <a:xfrm>
            <a:off x="7715227" y="1264439"/>
            <a:ext cx="320161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260 </a:t>
            </a:r>
            <a:r>
              <a:rPr lang="en-US" sz="1200" dirty="0"/>
              <a:t>Ineligible, gestational age &gt;=16 weeks</a:t>
            </a:r>
            <a:endParaRPr lang="en-US" sz="1200" b="1" dirty="0"/>
          </a:p>
          <a:p>
            <a:r>
              <a:rPr lang="en-US" sz="1200" b="1" dirty="0"/>
              <a:t>11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35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D50E9F2-EC16-09CF-377C-E066738A16CD}"/>
              </a:ext>
            </a:extLst>
          </p:cNvPr>
          <p:cNvSpPr txBox="1"/>
          <p:nvPr/>
        </p:nvSpPr>
        <p:spPr>
          <a:xfrm>
            <a:off x="720766" y="2933414"/>
            <a:ext cx="224866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biospecimen collection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Ultrasound*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6BBB57E-FB4E-9134-5433-24DDDC30717C}"/>
              </a:ext>
            </a:extLst>
          </p:cNvPr>
          <p:cNvSpPr txBox="1"/>
          <p:nvPr/>
        </p:nvSpPr>
        <p:spPr>
          <a:xfrm>
            <a:off x="3576275" y="2930356"/>
            <a:ext cx="224839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0DE5AF-B200-AAAC-B240-6149F4FD99E6}"/>
              </a:ext>
            </a:extLst>
          </p:cNvPr>
          <p:cNvSpPr txBox="1"/>
          <p:nvPr/>
        </p:nvSpPr>
        <p:spPr>
          <a:xfrm>
            <a:off x="6466876" y="2928403"/>
            <a:ext cx="2210644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Refused supplementation/not met</a:t>
            </a:r>
            <a:endParaRPr lang="en-US" sz="1050" i="0" dirty="0">
              <a:solidFill>
                <a:srgbClr val="000000"/>
              </a:solidFill>
              <a:effectLst/>
              <a:latin typeface="Aptos (Body)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E30B8F3-B23E-6AC0-FF1C-40A4EF23BE87}"/>
              </a:ext>
            </a:extLst>
          </p:cNvPr>
          <p:cNvSpPr txBox="1"/>
          <p:nvPr/>
        </p:nvSpPr>
        <p:spPr>
          <a:xfrm>
            <a:off x="9301988" y="2928403"/>
            <a:ext cx="2255628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5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2529D61-3529-E4C7-6826-1B10551249EA}"/>
              </a:ext>
            </a:extLst>
          </p:cNvPr>
          <p:cNvCxnSpPr>
            <a:cxnSpLocks/>
          </p:cNvCxnSpPr>
          <p:nvPr/>
        </p:nvCxnSpPr>
        <p:spPr>
          <a:xfrm flipH="1">
            <a:off x="520622" y="2857588"/>
            <a:ext cx="5316" cy="15479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F2352CF-5FB8-66C3-C854-30ABE9CEE1D3}"/>
              </a:ext>
            </a:extLst>
          </p:cNvPr>
          <p:cNvCxnSpPr>
            <a:cxnSpLocks/>
          </p:cNvCxnSpPr>
          <p:nvPr/>
        </p:nvCxnSpPr>
        <p:spPr>
          <a:xfrm flipH="1">
            <a:off x="3381177" y="2860587"/>
            <a:ext cx="5317" cy="153925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E869114-153B-E068-B646-E957E54DA0C7}"/>
              </a:ext>
            </a:extLst>
          </p:cNvPr>
          <p:cNvCxnSpPr>
            <a:cxnSpLocks/>
          </p:cNvCxnSpPr>
          <p:nvPr/>
        </p:nvCxnSpPr>
        <p:spPr>
          <a:xfrm flipH="1">
            <a:off x="6258880" y="2862382"/>
            <a:ext cx="5316" cy="15355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C97D6C0-F6FA-70FD-2BAF-991E0C8EC4B6}"/>
              </a:ext>
            </a:extLst>
          </p:cNvPr>
          <p:cNvCxnSpPr>
            <a:cxnSpLocks/>
          </p:cNvCxnSpPr>
          <p:nvPr/>
        </p:nvCxnSpPr>
        <p:spPr>
          <a:xfrm flipH="1">
            <a:off x="9105867" y="2855802"/>
            <a:ext cx="5316" cy="15506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CC7B110-AA45-CEF9-BAFA-A05BD13AB7D7}"/>
              </a:ext>
            </a:extLst>
          </p:cNvPr>
          <p:cNvCxnSpPr/>
          <p:nvPr/>
        </p:nvCxnSpPr>
        <p:spPr>
          <a:xfrm>
            <a:off x="518014" y="330080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45321DF1-67C4-E61D-B6BC-D63A7F24896F}"/>
              </a:ext>
            </a:extLst>
          </p:cNvPr>
          <p:cNvCxnSpPr/>
          <p:nvPr/>
        </p:nvCxnSpPr>
        <p:spPr>
          <a:xfrm>
            <a:off x="3387610" y="330096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EE66DEE1-723B-C396-F4D0-B002442BC1E7}"/>
              </a:ext>
            </a:extLst>
          </p:cNvPr>
          <p:cNvCxnSpPr/>
          <p:nvPr/>
        </p:nvCxnSpPr>
        <p:spPr>
          <a:xfrm>
            <a:off x="6270754" y="330559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EA3E31CA-CDAE-8BCD-5073-E6624FBF8195}"/>
              </a:ext>
            </a:extLst>
          </p:cNvPr>
          <p:cNvCxnSpPr/>
          <p:nvPr/>
        </p:nvCxnSpPr>
        <p:spPr>
          <a:xfrm>
            <a:off x="9105868" y="329901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CF4F8567-AC34-6708-61D7-05EA577093BE}"/>
              </a:ext>
            </a:extLst>
          </p:cNvPr>
          <p:cNvSpPr/>
          <p:nvPr/>
        </p:nvSpPr>
        <p:spPr>
          <a:xfrm>
            <a:off x="3927021" y="1738651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F8B907-91E3-912C-5E22-E1E47EE918ED}"/>
              </a:ext>
            </a:extLst>
          </p:cNvPr>
          <p:cNvSpPr txBox="1"/>
          <p:nvPr/>
        </p:nvSpPr>
        <p:spPr>
          <a:xfrm>
            <a:off x="-100094" y="233943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FB9990-8B7D-3808-0E17-475CFBD28059}"/>
              </a:ext>
            </a:extLst>
          </p:cNvPr>
          <p:cNvSpPr txBox="1"/>
          <p:nvPr/>
        </p:nvSpPr>
        <p:spPr>
          <a:xfrm>
            <a:off x="2659435" y="23149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65D017-B524-7D8B-478C-34AA9728BEE4}"/>
              </a:ext>
            </a:extLst>
          </p:cNvPr>
          <p:cNvSpPr txBox="1"/>
          <p:nvPr/>
        </p:nvSpPr>
        <p:spPr>
          <a:xfrm>
            <a:off x="5866221" y="233196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379F00-B388-0EA3-2E3C-7406CB92A979}"/>
              </a:ext>
            </a:extLst>
          </p:cNvPr>
          <p:cNvSpPr txBox="1"/>
          <p:nvPr/>
        </p:nvSpPr>
        <p:spPr>
          <a:xfrm>
            <a:off x="8434431" y="232961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7986D9-0615-EA99-C274-BA5D59C1B4F8}"/>
              </a:ext>
            </a:extLst>
          </p:cNvPr>
          <p:cNvSpPr txBox="1"/>
          <p:nvPr/>
        </p:nvSpPr>
        <p:spPr>
          <a:xfrm>
            <a:off x="2962566" y="440233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73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1EDFE8-87ED-9981-4083-7A4E957F94F9}"/>
              </a:ext>
            </a:extLst>
          </p:cNvPr>
          <p:cNvSpPr txBox="1"/>
          <p:nvPr/>
        </p:nvSpPr>
        <p:spPr>
          <a:xfrm>
            <a:off x="5814009" y="439872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77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645EED-87FA-DD42-221A-445BFB496326}"/>
              </a:ext>
            </a:extLst>
          </p:cNvPr>
          <p:cNvSpPr txBox="1"/>
          <p:nvPr/>
        </p:nvSpPr>
        <p:spPr>
          <a:xfrm>
            <a:off x="8677520" y="440712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F3231C-485A-8D19-98BF-D142B08C9560}"/>
              </a:ext>
            </a:extLst>
          </p:cNvPr>
          <p:cNvSpPr txBox="1"/>
          <p:nvPr/>
        </p:nvSpPr>
        <p:spPr>
          <a:xfrm>
            <a:off x="707296" y="4751854"/>
            <a:ext cx="2248535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4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1D070CE-AAC8-426B-1397-9E0E061481E5}"/>
              </a:ext>
            </a:extLst>
          </p:cNvPr>
          <p:cNvSpPr txBox="1"/>
          <p:nvPr/>
        </p:nvSpPr>
        <p:spPr>
          <a:xfrm>
            <a:off x="3577194" y="4741182"/>
            <a:ext cx="2247480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7727B8-92DD-CA35-D8AD-437093E79F53}"/>
              </a:ext>
            </a:extLst>
          </p:cNvPr>
          <p:cNvSpPr txBox="1"/>
          <p:nvPr/>
        </p:nvSpPr>
        <p:spPr>
          <a:xfrm>
            <a:off x="6466874" y="4748954"/>
            <a:ext cx="2200929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6C2598-EFB7-F663-A9A5-224FCDEC20A0}"/>
              </a:ext>
            </a:extLst>
          </p:cNvPr>
          <p:cNvSpPr txBox="1"/>
          <p:nvPr/>
        </p:nvSpPr>
        <p:spPr>
          <a:xfrm>
            <a:off x="9295253" y="4750359"/>
            <a:ext cx="2262363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2AF33E8-F779-7866-D1BB-BD87DD2F560A}"/>
              </a:ext>
            </a:extLst>
          </p:cNvPr>
          <p:cNvCxnSpPr>
            <a:cxnSpLocks/>
          </p:cNvCxnSpPr>
          <p:nvPr/>
        </p:nvCxnSpPr>
        <p:spPr>
          <a:xfrm flipH="1">
            <a:off x="513888" y="4682496"/>
            <a:ext cx="6735" cy="131457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C18D69-EE71-FEAD-FD86-1B5C646A3C96}"/>
              </a:ext>
            </a:extLst>
          </p:cNvPr>
          <p:cNvCxnSpPr>
            <a:cxnSpLocks/>
          </p:cNvCxnSpPr>
          <p:nvPr/>
        </p:nvCxnSpPr>
        <p:spPr>
          <a:xfrm flipH="1">
            <a:off x="3374442" y="4676837"/>
            <a:ext cx="6735" cy="13498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9DE4DA6-5947-BEF7-73EB-FEFBA62C9C58}"/>
              </a:ext>
            </a:extLst>
          </p:cNvPr>
          <p:cNvCxnSpPr>
            <a:cxnSpLocks/>
          </p:cNvCxnSpPr>
          <p:nvPr/>
        </p:nvCxnSpPr>
        <p:spPr>
          <a:xfrm flipH="1">
            <a:off x="6252338" y="4674885"/>
            <a:ext cx="6542" cy="13589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ADE5B3B-5D7A-DC57-B3A5-0652038565C0}"/>
              </a:ext>
            </a:extLst>
          </p:cNvPr>
          <p:cNvCxnSpPr>
            <a:cxnSpLocks/>
          </p:cNvCxnSpPr>
          <p:nvPr/>
        </p:nvCxnSpPr>
        <p:spPr>
          <a:xfrm flipH="1">
            <a:off x="9096524" y="4683480"/>
            <a:ext cx="9344" cy="13231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39EB01A-0BA6-1E25-5D9C-AB532FF0C721}"/>
              </a:ext>
            </a:extLst>
          </p:cNvPr>
          <p:cNvCxnSpPr/>
          <p:nvPr/>
        </p:nvCxnSpPr>
        <p:spPr>
          <a:xfrm>
            <a:off x="511279" y="511781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A40694A-F403-8A61-202A-046DE721533F}"/>
              </a:ext>
            </a:extLst>
          </p:cNvPr>
          <p:cNvCxnSpPr/>
          <p:nvPr/>
        </p:nvCxnSpPr>
        <p:spPr>
          <a:xfrm>
            <a:off x="3380875" y="5117975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39F9761-417F-EAC9-67CC-F12FD4F7669F}"/>
              </a:ext>
            </a:extLst>
          </p:cNvPr>
          <p:cNvCxnSpPr/>
          <p:nvPr/>
        </p:nvCxnSpPr>
        <p:spPr>
          <a:xfrm>
            <a:off x="6264019" y="512260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47272C-DEAF-599C-A5FF-A52118629E33}"/>
              </a:ext>
            </a:extLst>
          </p:cNvPr>
          <p:cNvCxnSpPr/>
          <p:nvPr/>
        </p:nvCxnSpPr>
        <p:spPr>
          <a:xfrm>
            <a:off x="9099133" y="511602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4097AE9-DE98-DCB5-09A3-9901B0AE18F8}"/>
              </a:ext>
            </a:extLst>
          </p:cNvPr>
          <p:cNvSpPr txBox="1"/>
          <p:nvPr/>
        </p:nvSpPr>
        <p:spPr>
          <a:xfrm>
            <a:off x="85442" y="600299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F838709-47EA-9CE2-C245-EB383A33AAAB}"/>
              </a:ext>
            </a:extLst>
          </p:cNvPr>
          <p:cNvSpPr txBox="1"/>
          <p:nvPr/>
        </p:nvSpPr>
        <p:spPr>
          <a:xfrm>
            <a:off x="2955831" y="60292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96AF493-E4B2-40DA-D4F4-9D5D9AF79EA0}"/>
              </a:ext>
            </a:extLst>
          </p:cNvPr>
          <p:cNvSpPr txBox="1"/>
          <p:nvPr/>
        </p:nvSpPr>
        <p:spPr>
          <a:xfrm>
            <a:off x="5807467" y="603470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BC268BF-C729-F018-1367-6183885B4321}"/>
              </a:ext>
            </a:extLst>
          </p:cNvPr>
          <p:cNvSpPr txBox="1"/>
          <p:nvPr/>
        </p:nvSpPr>
        <p:spPr>
          <a:xfrm>
            <a:off x="8668176" y="60073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64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2A4DC8F-1402-FF5F-390C-956FC3A56B28}"/>
              </a:ext>
            </a:extLst>
          </p:cNvPr>
          <p:cNvSpPr txBox="1"/>
          <p:nvPr/>
        </p:nvSpPr>
        <p:spPr>
          <a:xfrm>
            <a:off x="92177" y="7584720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late pregnancy visits </a:t>
            </a:r>
          </a:p>
          <a:p>
            <a:pPr algn="ctr"/>
            <a:r>
              <a:rPr lang="en-US" sz="1200" dirty="0"/>
              <a:t>(4 without mid-pregnancy visit)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C4B69B-EDEE-D3C2-C033-96DA154716D8}"/>
              </a:ext>
            </a:extLst>
          </p:cNvPr>
          <p:cNvSpPr txBox="1"/>
          <p:nvPr/>
        </p:nvSpPr>
        <p:spPr>
          <a:xfrm>
            <a:off x="2946496" y="7565809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46</a:t>
            </a:r>
            <a:r>
              <a:rPr lang="en-US" sz="1200" dirty="0"/>
              <a:t> late pregnancy visits </a:t>
            </a:r>
          </a:p>
          <a:p>
            <a:pPr algn="ctr"/>
            <a:r>
              <a:rPr lang="en-US" sz="1200" dirty="0"/>
              <a:t>(3 without mid-pregnancy visit)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25D8175-AB04-E9B5-AEB3-9081354DBE4F}"/>
              </a:ext>
            </a:extLst>
          </p:cNvPr>
          <p:cNvSpPr txBox="1"/>
          <p:nvPr/>
        </p:nvSpPr>
        <p:spPr>
          <a:xfrm>
            <a:off x="5809814" y="7562201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53 </a:t>
            </a:r>
            <a:r>
              <a:rPr lang="en-US" sz="1200" dirty="0"/>
              <a:t>late pregnancy visits </a:t>
            </a:r>
          </a:p>
          <a:p>
            <a:pPr algn="ctr"/>
            <a:r>
              <a:rPr lang="en-US" sz="1200" dirty="0"/>
              <a:t>(3 without mid-pregnancy visit)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55453A7-043D-534A-FC0A-9A36D675BA05}"/>
              </a:ext>
            </a:extLst>
          </p:cNvPr>
          <p:cNvSpPr txBox="1"/>
          <p:nvPr/>
        </p:nvSpPr>
        <p:spPr>
          <a:xfrm>
            <a:off x="8661450" y="7570599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50</a:t>
            </a:r>
            <a:r>
              <a:rPr lang="en-US" sz="1200" dirty="0"/>
              <a:t> late pregnancy visits </a:t>
            </a:r>
          </a:p>
          <a:p>
            <a:pPr algn="ctr"/>
            <a:r>
              <a:rPr lang="en-US" sz="1200" dirty="0"/>
              <a:t>(6 without mid-pregnancy visit)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CF9160A-C002-2860-475F-2FD0093B4D9E}"/>
              </a:ext>
            </a:extLst>
          </p:cNvPr>
          <p:cNvSpPr txBox="1"/>
          <p:nvPr/>
        </p:nvSpPr>
        <p:spPr>
          <a:xfrm>
            <a:off x="82842" y="851863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E513A01-B523-7F71-C976-4FB33987FDF4}"/>
              </a:ext>
            </a:extLst>
          </p:cNvPr>
          <p:cNvSpPr txBox="1"/>
          <p:nvPr/>
        </p:nvSpPr>
        <p:spPr>
          <a:xfrm>
            <a:off x="2962575" y="851815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36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5145108-B58F-5DED-F7C5-90C556C20B04}"/>
              </a:ext>
            </a:extLst>
          </p:cNvPr>
          <p:cNvSpPr txBox="1"/>
          <p:nvPr/>
        </p:nvSpPr>
        <p:spPr>
          <a:xfrm>
            <a:off x="5816548" y="851454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B1604B7-6410-4C0C-52F6-F6C80EE8E6A2}"/>
              </a:ext>
            </a:extLst>
          </p:cNvPr>
          <p:cNvSpPr txBox="1"/>
          <p:nvPr/>
        </p:nvSpPr>
        <p:spPr>
          <a:xfrm>
            <a:off x="8668185" y="851434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37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B86C4D4-6305-6CF0-77B5-1192E2F2BBA6}"/>
              </a:ext>
            </a:extLst>
          </p:cNvPr>
          <p:cNvSpPr txBox="1"/>
          <p:nvPr/>
        </p:nvSpPr>
        <p:spPr>
          <a:xfrm>
            <a:off x="707304" y="8117606"/>
            <a:ext cx="223919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CFB09E8-5254-283B-F430-10A652EA5D4E}"/>
              </a:ext>
            </a:extLst>
          </p:cNvPr>
          <p:cNvCxnSpPr>
            <a:cxnSpLocks/>
          </p:cNvCxnSpPr>
          <p:nvPr/>
        </p:nvCxnSpPr>
        <p:spPr>
          <a:xfrm>
            <a:off x="511287" y="8055649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8675D2C-4538-18A1-7150-EE3E0F546866}"/>
              </a:ext>
            </a:extLst>
          </p:cNvPr>
          <p:cNvCxnSpPr>
            <a:cxnSpLocks/>
            <a:endCxn id="132" idx="1"/>
          </p:cNvCxnSpPr>
          <p:nvPr/>
        </p:nvCxnSpPr>
        <p:spPr>
          <a:xfrm flipV="1">
            <a:off x="510170" y="8244564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95D473AB-EE8C-E8F9-E7BF-C630E25807B6}"/>
              </a:ext>
            </a:extLst>
          </p:cNvPr>
          <p:cNvSpPr txBox="1"/>
          <p:nvPr/>
        </p:nvSpPr>
        <p:spPr>
          <a:xfrm>
            <a:off x="3569824" y="8112133"/>
            <a:ext cx="2248668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336FCCB-87BC-C644-3A6E-A7EF87B71D1A}"/>
              </a:ext>
            </a:extLst>
          </p:cNvPr>
          <p:cNvCxnSpPr>
            <a:cxnSpLocks/>
          </p:cNvCxnSpPr>
          <p:nvPr/>
        </p:nvCxnSpPr>
        <p:spPr>
          <a:xfrm>
            <a:off x="3371841" y="8049989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26F7BE2-26FD-4D14-42C1-71942749BA00}"/>
              </a:ext>
            </a:extLst>
          </p:cNvPr>
          <p:cNvCxnSpPr>
            <a:cxnSpLocks/>
            <a:endCxn id="164" idx="1"/>
          </p:cNvCxnSpPr>
          <p:nvPr/>
        </p:nvCxnSpPr>
        <p:spPr>
          <a:xfrm flipV="1">
            <a:off x="3372690" y="8239091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EAE2AEAC-7602-66C7-BEC1-043FFF7A4F6D}"/>
              </a:ext>
            </a:extLst>
          </p:cNvPr>
          <p:cNvSpPr txBox="1"/>
          <p:nvPr/>
        </p:nvSpPr>
        <p:spPr>
          <a:xfrm>
            <a:off x="6453349" y="8118590"/>
            <a:ext cx="221064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11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47EE3C8D-9E65-FF2B-48F3-1DAE651C4029}"/>
              </a:ext>
            </a:extLst>
          </p:cNvPr>
          <p:cNvCxnSpPr>
            <a:cxnSpLocks/>
          </p:cNvCxnSpPr>
          <p:nvPr/>
        </p:nvCxnSpPr>
        <p:spPr>
          <a:xfrm flipH="1">
            <a:off x="6257333" y="8048037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A6993D4-870F-A34E-69A3-3530307FB967}"/>
              </a:ext>
            </a:extLst>
          </p:cNvPr>
          <p:cNvCxnSpPr>
            <a:cxnSpLocks/>
            <a:endCxn id="167" idx="1"/>
          </p:cNvCxnSpPr>
          <p:nvPr/>
        </p:nvCxnSpPr>
        <p:spPr>
          <a:xfrm flipV="1">
            <a:off x="6256215" y="8245548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0320C24C-7940-AD22-3BB3-A3C56B5FDCB8}"/>
              </a:ext>
            </a:extLst>
          </p:cNvPr>
          <p:cNvSpPr txBox="1"/>
          <p:nvPr/>
        </p:nvSpPr>
        <p:spPr>
          <a:xfrm>
            <a:off x="9290119" y="8118591"/>
            <a:ext cx="225816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D80E0A1-949D-ED80-C3DB-2D85FB0D0BC3}"/>
              </a:ext>
            </a:extLst>
          </p:cNvPr>
          <p:cNvCxnSpPr>
            <a:cxnSpLocks/>
          </p:cNvCxnSpPr>
          <p:nvPr/>
        </p:nvCxnSpPr>
        <p:spPr>
          <a:xfrm flipH="1">
            <a:off x="9094102" y="8056632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4475F4B-712A-9FB2-16D8-AB008D393A0A}"/>
              </a:ext>
            </a:extLst>
          </p:cNvPr>
          <p:cNvCxnSpPr>
            <a:cxnSpLocks/>
            <a:endCxn id="170" idx="1"/>
          </p:cNvCxnSpPr>
          <p:nvPr/>
        </p:nvCxnSpPr>
        <p:spPr>
          <a:xfrm flipV="1">
            <a:off x="9092985" y="8245549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0844447-0673-59B9-5C8B-A38281941FB4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5580648" y="763860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B7B05D7-D9A4-43F8-1AD1-ECDD2E579627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5580648" y="1153093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A23AA55-E3C6-DF51-F9B7-1D9546F82A61}"/>
              </a:ext>
            </a:extLst>
          </p:cNvPr>
          <p:cNvCxnSpPr>
            <a:stCxn id="15" idx="2"/>
            <a:endCxn id="37" idx="0"/>
          </p:cNvCxnSpPr>
          <p:nvPr/>
        </p:nvCxnSpPr>
        <p:spPr>
          <a:xfrm>
            <a:off x="5580648" y="1530326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C52BACF-B76F-55A0-36C5-3E06D5963AE6}"/>
              </a:ext>
            </a:extLst>
          </p:cNvPr>
          <p:cNvCxnSpPr>
            <a:stCxn id="37" idx="3"/>
          </p:cNvCxnSpPr>
          <p:nvPr/>
        </p:nvCxnSpPr>
        <p:spPr>
          <a:xfrm flipH="1">
            <a:off x="1934175" y="215308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959E7BB-85BB-31FE-8839-8CEDBACB181B}"/>
              </a:ext>
            </a:extLst>
          </p:cNvPr>
          <p:cNvCxnSpPr/>
          <p:nvPr/>
        </p:nvCxnSpPr>
        <p:spPr>
          <a:xfrm flipH="1">
            <a:off x="4765920" y="221150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95107B56-B5FC-BBE9-4C82-A74DC697550C}"/>
              </a:ext>
            </a:extLst>
          </p:cNvPr>
          <p:cNvCxnSpPr/>
          <p:nvPr/>
        </p:nvCxnSpPr>
        <p:spPr>
          <a:xfrm>
            <a:off x="5993242" y="2213038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C16528A-19CF-4ABF-D07C-77FDFA97625C}"/>
              </a:ext>
            </a:extLst>
          </p:cNvPr>
          <p:cNvCxnSpPr>
            <a:stCxn id="37" idx="5"/>
          </p:cNvCxnSpPr>
          <p:nvPr/>
        </p:nvCxnSpPr>
        <p:spPr>
          <a:xfrm>
            <a:off x="6749939" y="215308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A576A1EE-3DA3-7924-3B95-C90E71CA8E5F}"/>
              </a:ext>
            </a:extLst>
          </p:cNvPr>
          <p:cNvSpPr txBox="1"/>
          <p:nvPr/>
        </p:nvSpPr>
        <p:spPr>
          <a:xfrm>
            <a:off x="11439993" y="2319381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34346F9-5056-6EF3-346E-A4E37513F825}"/>
              </a:ext>
            </a:extLst>
          </p:cNvPr>
          <p:cNvSpPr txBox="1"/>
          <p:nvPr/>
        </p:nvSpPr>
        <p:spPr>
          <a:xfrm>
            <a:off x="11639959" y="256630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354</a:t>
            </a:r>
            <a:endParaRPr lang="en-US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CE7D57E-1ACC-B35E-77D5-8D9B9DA01CB3}"/>
              </a:ext>
            </a:extLst>
          </p:cNvPr>
          <p:cNvSpPr txBox="1"/>
          <p:nvPr/>
        </p:nvSpPr>
        <p:spPr>
          <a:xfrm>
            <a:off x="11651838" y="4401084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301</a:t>
            </a:r>
            <a:endParaRPr lang="en-US" sz="1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B6A52BE-80FD-FC20-AFA6-3166F5E99567}"/>
              </a:ext>
            </a:extLst>
          </p:cNvPr>
          <p:cNvSpPr txBox="1"/>
          <p:nvPr/>
        </p:nvSpPr>
        <p:spPr>
          <a:xfrm>
            <a:off x="11651838" y="601893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246</a:t>
            </a:r>
            <a:endParaRPr lang="en-US" sz="12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78658BD-744D-17F2-5C0A-7FEF2CF22CF8}"/>
              </a:ext>
            </a:extLst>
          </p:cNvPr>
          <p:cNvSpPr txBox="1"/>
          <p:nvPr/>
        </p:nvSpPr>
        <p:spPr>
          <a:xfrm>
            <a:off x="11651838" y="756220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194</a:t>
            </a:r>
            <a:endParaRPr lang="en-US" sz="1200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0574CB8-B045-5D83-194C-8C1764B6B200}"/>
              </a:ext>
            </a:extLst>
          </p:cNvPr>
          <p:cNvSpPr txBox="1"/>
          <p:nvPr/>
        </p:nvSpPr>
        <p:spPr>
          <a:xfrm>
            <a:off x="11651847" y="849880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147</a:t>
            </a:r>
            <a:endParaRPr lang="en-US" sz="1200" dirty="0"/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710F9381-0022-9098-A13F-4ABF05847BD5}"/>
              </a:ext>
            </a:extLst>
          </p:cNvPr>
          <p:cNvCxnSpPr/>
          <p:nvPr/>
        </p:nvCxnSpPr>
        <p:spPr>
          <a:xfrm>
            <a:off x="5580649" y="1632611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2135FC36-26ED-BF5E-16A1-5E22BE1B4B53}"/>
              </a:ext>
            </a:extLst>
          </p:cNvPr>
          <p:cNvCxnSpPr>
            <a:cxnSpLocks/>
          </p:cNvCxnSpPr>
          <p:nvPr/>
        </p:nvCxnSpPr>
        <p:spPr>
          <a:xfrm flipH="1">
            <a:off x="510170" y="6295932"/>
            <a:ext cx="1109" cy="12887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B4786F15-1278-4FDE-5951-07E0E78D3B34}"/>
              </a:ext>
            </a:extLst>
          </p:cNvPr>
          <p:cNvCxnSpPr>
            <a:cxnSpLocks/>
          </p:cNvCxnSpPr>
          <p:nvPr/>
        </p:nvCxnSpPr>
        <p:spPr>
          <a:xfrm flipH="1">
            <a:off x="3371841" y="6303704"/>
            <a:ext cx="2601" cy="12584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C040FF37-D506-554B-D223-5ADE1DE3CAC2}"/>
              </a:ext>
            </a:extLst>
          </p:cNvPr>
          <p:cNvCxnSpPr>
            <a:cxnSpLocks/>
          </p:cNvCxnSpPr>
          <p:nvPr/>
        </p:nvCxnSpPr>
        <p:spPr>
          <a:xfrm>
            <a:off x="6252338" y="6306201"/>
            <a:ext cx="6542" cy="125600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F4B8AE09-547D-5FC2-AF1D-96C52E8E9F82}"/>
              </a:ext>
            </a:extLst>
          </p:cNvPr>
          <p:cNvCxnSpPr>
            <a:cxnSpLocks/>
          </p:cNvCxnSpPr>
          <p:nvPr/>
        </p:nvCxnSpPr>
        <p:spPr>
          <a:xfrm>
            <a:off x="9096524" y="6283655"/>
            <a:ext cx="12001" cy="127854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B0B5DED3-90CD-3F06-59CF-BEDBAC98C431}"/>
              </a:ext>
            </a:extLst>
          </p:cNvPr>
          <p:cNvSpPr txBox="1"/>
          <p:nvPr/>
        </p:nvSpPr>
        <p:spPr bwMode="auto">
          <a:xfrm>
            <a:off x="396448" y="724604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0931B5E-E5BF-65A3-6142-C529BF19CD0A}"/>
              </a:ext>
            </a:extLst>
          </p:cNvPr>
          <p:cNvCxnSpPr>
            <a:cxnSpLocks/>
          </p:cNvCxnSpPr>
          <p:nvPr/>
        </p:nvCxnSpPr>
        <p:spPr>
          <a:xfrm>
            <a:off x="518014" y="6572262"/>
            <a:ext cx="18928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155BCD7-C4AF-D058-A027-46744577C988}"/>
              </a:ext>
            </a:extLst>
          </p:cNvPr>
          <p:cNvCxnSpPr>
            <a:cxnSpLocks/>
          </p:cNvCxnSpPr>
          <p:nvPr/>
        </p:nvCxnSpPr>
        <p:spPr>
          <a:xfrm flipV="1">
            <a:off x="3371841" y="657195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A68A25D-9AEB-A99E-5B2F-130074BF5938}"/>
              </a:ext>
            </a:extLst>
          </p:cNvPr>
          <p:cNvCxnSpPr>
            <a:cxnSpLocks/>
          </p:cNvCxnSpPr>
          <p:nvPr/>
        </p:nvCxnSpPr>
        <p:spPr>
          <a:xfrm>
            <a:off x="6265550" y="6640666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7AAA890-A0D8-26D0-8FEE-6A40E7657C3F}"/>
              </a:ext>
            </a:extLst>
          </p:cNvPr>
          <p:cNvCxnSpPr>
            <a:cxnSpLocks/>
          </p:cNvCxnSpPr>
          <p:nvPr/>
        </p:nvCxnSpPr>
        <p:spPr>
          <a:xfrm flipV="1">
            <a:off x="9111183" y="6634087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19EF342-8BD6-37AA-9B5A-962BA16CEC79}"/>
              </a:ext>
            </a:extLst>
          </p:cNvPr>
          <p:cNvSpPr txBox="1"/>
          <p:nvPr/>
        </p:nvSpPr>
        <p:spPr>
          <a:xfrm>
            <a:off x="707296" y="5545908"/>
            <a:ext cx="2262138" cy="4154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Mid-pregnancy visits cancelled due to delay in supplementation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3A43E9A-237E-D930-A15F-6F6E35FF0CE8}"/>
              </a:ext>
            </a:extLst>
          </p:cNvPr>
          <p:cNvCxnSpPr>
            <a:cxnSpLocks/>
            <a:endCxn id="119" idx="3"/>
          </p:cNvCxnSpPr>
          <p:nvPr/>
        </p:nvCxnSpPr>
        <p:spPr>
          <a:xfrm rot="5400000">
            <a:off x="1622127" y="6690152"/>
            <a:ext cx="1844120" cy="406682"/>
          </a:xfrm>
          <a:prstGeom prst="bentConnector2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9D34637-2FB9-BB0A-9B7D-C05704381376}"/>
              </a:ext>
            </a:extLst>
          </p:cNvPr>
          <p:cNvSpPr txBox="1"/>
          <p:nvPr/>
        </p:nvSpPr>
        <p:spPr>
          <a:xfrm>
            <a:off x="714031" y="6351210"/>
            <a:ext cx="2205195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5DCF92-1312-72AB-CF10-8095D0AD7FC8}"/>
              </a:ext>
            </a:extLst>
          </p:cNvPr>
          <p:cNvSpPr txBox="1"/>
          <p:nvPr/>
        </p:nvSpPr>
        <p:spPr>
          <a:xfrm>
            <a:off x="707296" y="7235690"/>
            <a:ext cx="2190167" cy="25391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1 </a:t>
            </a:r>
            <a:r>
              <a:rPr lang="en-US" sz="1050" dirty="0">
                <a:solidFill>
                  <a:prstClr val="black"/>
                </a:solidFill>
                <a:latin typeface="Aptos" panose="02110004020202020204"/>
              </a:rPr>
              <a:t>Outcome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431713-BC85-2F47-0C0C-4ABCEFC8FE03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510170" y="7362648"/>
            <a:ext cx="197126" cy="607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F2D596-D7DB-D810-2472-79F89455D60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10170" y="5753657"/>
            <a:ext cx="19712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05F536A-4333-0711-A512-B6F77E0654B6}"/>
              </a:ext>
            </a:extLst>
          </p:cNvPr>
          <p:cNvSpPr txBox="1"/>
          <p:nvPr/>
        </p:nvSpPr>
        <p:spPr>
          <a:xfrm>
            <a:off x="3576275" y="5552779"/>
            <a:ext cx="2262138" cy="4154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4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Mid-pregnancy visits cancelled due to delay in supplementation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62240F-7199-6822-35A8-2F722C64B81D}"/>
              </a:ext>
            </a:extLst>
          </p:cNvPr>
          <p:cNvSpPr txBox="1"/>
          <p:nvPr/>
        </p:nvSpPr>
        <p:spPr>
          <a:xfrm>
            <a:off x="6466772" y="5563100"/>
            <a:ext cx="2210644" cy="4154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3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Mid-pregnancy visits cancelled due to delay in supplementation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992073-3DA4-A506-1D54-5253C1B22098}"/>
              </a:ext>
            </a:extLst>
          </p:cNvPr>
          <p:cNvSpPr txBox="1"/>
          <p:nvPr/>
        </p:nvSpPr>
        <p:spPr>
          <a:xfrm>
            <a:off x="9295500" y="5555258"/>
            <a:ext cx="2262138" cy="4154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6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Mid-pregnancy visits cancelled due to delay in supplementation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E46FE53-1F18-36FD-D1AD-93B90D0D75BA}"/>
              </a:ext>
            </a:extLst>
          </p:cNvPr>
          <p:cNvCxnSpPr/>
          <p:nvPr/>
        </p:nvCxnSpPr>
        <p:spPr>
          <a:xfrm>
            <a:off x="3384539" y="5755506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4E123E5-2E1F-14F5-A9A0-29713CB30647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6252338" y="5770849"/>
            <a:ext cx="2144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ED713F-03B7-6564-EFB1-CE14A5A9FB8F}"/>
              </a:ext>
            </a:extLst>
          </p:cNvPr>
          <p:cNvCxnSpPr/>
          <p:nvPr/>
        </p:nvCxnSpPr>
        <p:spPr>
          <a:xfrm>
            <a:off x="9101196" y="577863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672851E-2DF4-8D50-7830-F3169D5ECC03}"/>
              </a:ext>
            </a:extLst>
          </p:cNvPr>
          <p:cNvCxnSpPr>
            <a:cxnSpLocks/>
          </p:cNvCxnSpPr>
          <p:nvPr/>
        </p:nvCxnSpPr>
        <p:spPr>
          <a:xfrm rot="5400000">
            <a:off x="4875308" y="6591880"/>
            <a:ext cx="1234605" cy="12700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F841AB7-B9F1-7490-5F72-A9707892FC9F}"/>
              </a:ext>
            </a:extLst>
          </p:cNvPr>
          <p:cNvCxnSpPr>
            <a:cxnSpLocks/>
            <a:endCxn id="120" idx="3"/>
          </p:cNvCxnSpPr>
          <p:nvPr/>
        </p:nvCxnSpPr>
        <p:spPr>
          <a:xfrm rot="5400000">
            <a:off x="4507409" y="6655170"/>
            <a:ext cx="1829229" cy="453715"/>
          </a:xfrm>
          <a:prstGeom prst="bentConnector2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3205C0D-57CE-091A-6779-1959B3E346EF}"/>
              </a:ext>
            </a:extLst>
          </p:cNvPr>
          <p:cNvSpPr txBox="1"/>
          <p:nvPr/>
        </p:nvSpPr>
        <p:spPr>
          <a:xfrm>
            <a:off x="3584736" y="7202477"/>
            <a:ext cx="2190167" cy="25391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1 </a:t>
            </a:r>
            <a:r>
              <a:rPr lang="en-US" sz="1050" dirty="0">
                <a:solidFill>
                  <a:prstClr val="black"/>
                </a:solidFill>
                <a:latin typeface="Aptos" panose="02110004020202020204"/>
              </a:rPr>
              <a:t>Refused visit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6F4669F-6B5A-BFB7-3C06-BB9317E06FD5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3380875" y="7329435"/>
            <a:ext cx="203861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9EB3AE3D-DB24-1520-E43F-85254871B5A4}"/>
              </a:ext>
            </a:extLst>
          </p:cNvPr>
          <p:cNvSpPr txBox="1"/>
          <p:nvPr/>
        </p:nvSpPr>
        <p:spPr>
          <a:xfrm>
            <a:off x="3604765" y="6349968"/>
            <a:ext cx="2193475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14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04C2742-F7DE-2E9A-DB44-F948F78E3B36}"/>
              </a:ext>
            </a:extLst>
          </p:cNvPr>
          <p:cNvCxnSpPr>
            <a:cxnSpLocks/>
          </p:cNvCxnSpPr>
          <p:nvPr/>
        </p:nvCxnSpPr>
        <p:spPr>
          <a:xfrm rot="5400000">
            <a:off x="7374837" y="6659959"/>
            <a:ext cx="1829229" cy="453715"/>
          </a:xfrm>
          <a:prstGeom prst="bentConnector2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D642B6A-6230-1A4D-9457-35778558145D}"/>
              </a:ext>
            </a:extLst>
          </p:cNvPr>
          <p:cNvCxnSpPr>
            <a:cxnSpLocks/>
          </p:cNvCxnSpPr>
          <p:nvPr/>
        </p:nvCxnSpPr>
        <p:spPr>
          <a:xfrm rot="5400000">
            <a:off x="10222362" y="6654740"/>
            <a:ext cx="1829229" cy="453715"/>
          </a:xfrm>
          <a:prstGeom prst="bentConnector2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B236EA5A-0A5E-E3AB-6093-ED42553162D7}"/>
              </a:ext>
            </a:extLst>
          </p:cNvPr>
          <p:cNvSpPr txBox="1"/>
          <p:nvPr/>
        </p:nvSpPr>
        <p:spPr>
          <a:xfrm>
            <a:off x="6510112" y="6409309"/>
            <a:ext cx="2167408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3078ACF-E75B-A232-514C-04007F4BD2DB}"/>
              </a:ext>
            </a:extLst>
          </p:cNvPr>
          <p:cNvSpPr txBox="1"/>
          <p:nvPr/>
        </p:nvSpPr>
        <p:spPr>
          <a:xfrm>
            <a:off x="9345225" y="6410994"/>
            <a:ext cx="2212391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6</a:t>
            </a:r>
            <a:r>
              <a:rPr lang="en-US" sz="1050" dirty="0"/>
              <a:t> Outcomes</a:t>
            </a:r>
          </a:p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51398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6746</TotalTime>
  <Words>935</Words>
  <Application>Microsoft Office PowerPoint</Application>
  <PresentationFormat>Custom</PresentationFormat>
  <Paragraphs>206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Eleonor Zavala</cp:lastModifiedBy>
  <cp:revision>17</cp:revision>
  <dcterms:created xsi:type="dcterms:W3CDTF">2024-04-26T15:51:54Z</dcterms:created>
  <dcterms:modified xsi:type="dcterms:W3CDTF">2024-11-19T16:49:09Z</dcterms:modified>
</cp:coreProperties>
</file>